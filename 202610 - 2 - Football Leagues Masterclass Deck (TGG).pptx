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c539070c-3ad0-0d80-51f6-346e12f06ba8}">
          <p14:sldIdLst>
            <p14:sldId id="256"/>
            <p14:sldId id="257"/>
            <p14:sldId id="258"/>
          </p14:sldIdLst>
        </p14:section>
        <p14:section name="01 The idea" id="{85145bc8-e752-d293-e87b-501e5d2bfd5e}">
          <p14:sldIdLst>
            <p14:sldId id="259"/>
          </p14:sldIdLst>
        </p14:section>
        <p14:section name="02 Building the model" id="{018a3156-9544-1651-7a4a-3bda3c937a8e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3 Simulating the season" id="{423d5b7f-017e-501f-194f-1ab3c6ec6579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04 Does it work?" id="{8ea0102c-e57c-37c2-fafe-64eadef147a1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Q&amp;A" id="{b5a7b443-aac1-c2f2-62fc-1bdf3e0b02ae}">
          <p14:sldIdLst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P(win the Premier League), as of 19 October 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P(finish 1st)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 City</c:v>
                  </c:pt>
                  <c:pt idx="1">
                    <c:v>Arsenal</c:v>
                  </c:pt>
                  <c:pt idx="2">
                    <c:v>Brighton</c:v>
                  </c:pt>
                  <c:pt idx="3">
                    <c:v>Chelsea</c:v>
                  </c:pt>
                  <c:pt idx="4">
                    <c:v>Liverpool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59.1</c:v>
                </c:pt>
                <c:pt idx="1">
                  <c:v>34.9</c:v>
                </c:pt>
                <c:pt idx="2">
                  <c:v>5.3</c:v>
                </c:pt>
                <c:pt idx="3">
                  <c:v>0.3</c:v>
                </c:pt>
                <c:pt idx="4">
                  <c:v>0.2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Probability of scoring k goals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Aston Villa (λ = 1.47)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33.8</c:v>
                </c:pt>
                <c:pt idx="2">
                  <c:v>24.8</c:v>
                </c:pt>
                <c:pt idx="3">
                  <c:v>12.2</c:v>
                </c:pt>
                <c:pt idx="4">
                  <c:v>4.5</c:v>
                </c:pt>
                <c:pt idx="5">
                  <c:v>1.3</c:v>
                </c:pt>
                <c:pt idx="6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Manchester City (λ = 1.9)</c:v>
                </c:pt>
              </c:strCache>
            </c:strRef>
          </c:tx>
          <c:spPr>
            <a:solidFill>
              <a:srgbClr val="7CC4F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</c:v>
                </c:pt>
                <c:pt idx="1">
                  <c:v>28.4</c:v>
                </c:pt>
                <c:pt idx="2">
                  <c:v>27</c:v>
                </c:pt>
                <c:pt idx="3">
                  <c:v>17.1</c:v>
                </c:pt>
                <c:pt idx="4">
                  <c:v>8.1</c:v>
                </c:pt>
                <c:pt idx="5">
                  <c:v>3.1</c:v>
                </c:pt>
                <c:pt idx="6">
                  <c:v>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goals scored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How much of the raw rating we keep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"/>
          <c:y val="0.13"/>
          <c:w val="0.86"/>
          <c:h val="0.6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established teams</c:v>
                </c:pt>
              </c:strCache>
            </c:strRef>
          </c:tx>
          <c:spPr>
            <a:solidFill>
              <a:srgbClr val="3EE07A"/>
            </a:solidFill>
            <a:ln w="38100" cap="flat">
              <a:solidFill>
                <a:srgbClr val="3EE0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E07A"/>
              </a:solidFill>
              <a:ln w="9525" cap="flat">
                <a:solidFill>
                  <a:srgbClr val="3EE0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50</c:v>
                </c:pt>
                <c:pt idx="1">
                  <c:v>52.6</c:v>
                </c:pt>
                <c:pt idx="2">
                  <c:v>55.3</c:v>
                </c:pt>
                <c:pt idx="3">
                  <c:v>57.9</c:v>
                </c:pt>
                <c:pt idx="4">
                  <c:v>60.5</c:v>
                </c:pt>
                <c:pt idx="5">
                  <c:v>63.2</c:v>
                </c:pt>
                <c:pt idx="6">
                  <c:v>65.8</c:v>
                </c:pt>
                <c:pt idx="7">
                  <c:v>68.4</c:v>
                </c:pt>
                <c:pt idx="8">
                  <c:v>71.1</c:v>
                </c:pt>
                <c:pt idx="9">
                  <c:v>73.7</c:v>
                </c:pt>
                <c:pt idx="10">
                  <c:v>76.3</c:v>
                </c:pt>
                <c:pt idx="11">
                  <c:v>78.9</c:v>
                </c:pt>
                <c:pt idx="12">
                  <c:v>81.6</c:v>
                </c:pt>
                <c:pt idx="13">
                  <c:v>84.2</c:v>
                </c:pt>
                <c:pt idx="14">
                  <c:v>86.8</c:v>
                </c:pt>
                <c:pt idx="15">
                  <c:v>89.5</c:v>
                </c:pt>
                <c:pt idx="16">
                  <c:v>92.1</c:v>
                </c:pt>
                <c:pt idx="17">
                  <c:v>94.7</c:v>
                </c:pt>
                <c:pt idx="18">
                  <c:v>97.4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promoted / relegated</c:v>
                </c:pt>
              </c:strCache>
            </c:strRef>
          </c:tx>
          <c:spPr>
            <a:solidFill>
              <a:srgbClr val="FF6A2B"/>
            </a:solidFill>
            <a:ln w="38100" cap="flat">
              <a:solidFill>
                <a:srgbClr val="FF6A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A2B"/>
              </a:solidFill>
              <a:ln w="9525" cap="flat">
                <a:solidFill>
                  <a:srgbClr val="FF6A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</c:v>
                </c:pt>
                <c:pt idx="1">
                  <c:v>14.7</c:v>
                </c:pt>
                <c:pt idx="2">
                  <c:v>19.5</c:v>
                </c:pt>
                <c:pt idx="3">
                  <c:v>24.2</c:v>
                </c:pt>
                <c:pt idx="4">
                  <c:v>28.9</c:v>
                </c:pt>
                <c:pt idx="5">
                  <c:v>33.7</c:v>
                </c:pt>
                <c:pt idx="6">
                  <c:v>38.4</c:v>
                </c:pt>
                <c:pt idx="7">
                  <c:v>43.2</c:v>
                </c:pt>
                <c:pt idx="8">
                  <c:v>47.9</c:v>
                </c:pt>
                <c:pt idx="9">
                  <c:v>52.6</c:v>
                </c:pt>
                <c:pt idx="10">
                  <c:v>57.4</c:v>
                </c:pt>
                <c:pt idx="11">
                  <c:v>62.1</c:v>
                </c:pt>
                <c:pt idx="12">
                  <c:v>66.8</c:v>
                </c:pt>
                <c:pt idx="13">
                  <c:v>71.6</c:v>
                </c:pt>
                <c:pt idx="14">
                  <c:v>76.3</c:v>
                </c:pt>
                <c:pt idx="15">
                  <c:v>81.1</c:v>
                </c:pt>
                <c:pt idx="16">
                  <c:v>85.8</c:v>
                </c:pt>
                <c:pt idx="17">
                  <c:v>90.5</c:v>
                </c:pt>
                <c:pt idx="18">
                  <c:v>95.3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matches played this season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Aston Villa v Manchester City: who wins?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model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29.9</c:v>
                </c:pt>
                <c:pt idx="1">
                  <c:v>22.3</c:v>
                </c:pt>
                <c:pt idx="2">
                  <c:v>47.7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Bookmakers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21.8</c:v>
                </c:pt>
                <c:pt idx="1">
                  <c:v>23</c:v>
                </c:pt>
                <c:pt idx="2">
                  <c:v>55.2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5F7F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How stable is P(Man City 1st)?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spread of the estimate (± pp)</c:v>
                </c:pt>
              </c:strCache>
            </c:strRef>
          </c:tx>
          <c:spPr>
            <a:solidFill>
              <a:srgbClr val="C8FF6A"/>
            </a:solidFill>
            <a:ln w="3810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&quot;±&quot;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8FF6A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100</c:v>
                  </c:pt>
                  <c:pt idx="1">
                    <c:v>300</c:v>
                  </c:pt>
                  <c:pt idx="2">
                    <c:v>1,000</c:v>
                  </c:pt>
                  <c:pt idx="3">
                    <c:v>3,000</c:v>
                  </c:pt>
                  <c:pt idx="4">
                    <c:v>10,000</c:v>
                  </c:pt>
                  <c:pt idx="5">
                    <c:v>30,000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5.92</c:v>
                </c:pt>
                <c:pt idx="1">
                  <c:v>2.88</c:v>
                </c:pt>
                <c:pt idx="2">
                  <c:v>1.64</c:v>
                </c:pt>
                <c:pt idx="3">
                  <c:v>0.62</c:v>
                </c:pt>
                <c:pt idx="4">
                  <c:v>0.57</c:v>
                </c:pt>
                <c:pt idx="5">
                  <c:v>0.29</c:v>
                </c:pt>
              </c:numCache>
            </c:numRef>
          </c:val>
          <c:smooth val="0"/>
        </c:ser>
        <c:dLbls>
          <c:numFmt formatCode="&quot;±&quot;0.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A3ADA8"/>
                    </a:solidFill>
                    <a:latin typeface="Arial"/>
                  </a:rPr>
                  <a:t>simulated seasons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Southampton: chance of each final position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 it stands (−4)</c:v>
                </c:pt>
              </c:strCache>
            </c:strRef>
          </c:tx>
          <c:spPr>
            <a:solidFill>
              <a:srgbClr val="FF6A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22.4</c:v>
                </c:pt>
                <c:pt idx="2">
                  <c:v>20.3</c:v>
                </c:pt>
                <c:pt idx="3">
                  <c:v>15.7</c:v>
                </c:pt>
                <c:pt idx="4">
                  <c:v>11</c:v>
                </c:pt>
                <c:pt idx="5">
                  <c:v>7.9</c:v>
                </c:pt>
                <c:pt idx="6">
                  <c:v>5.8</c:v>
                </c:pt>
                <c:pt idx="7">
                  <c:v>3.9</c:v>
                </c:pt>
                <c:pt idx="8">
                  <c:v>2.6</c:v>
                </c:pt>
                <c:pt idx="9">
                  <c:v>1.8</c:v>
                </c:pt>
                <c:pt idx="10">
                  <c:v>1.3</c:v>
                </c:pt>
                <c:pt idx="11">
                  <c:v>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Without the deduction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33.8</c:v>
                </c:pt>
                <c:pt idx="2">
                  <c:v>21.5</c:v>
                </c:pt>
                <c:pt idx="3">
                  <c:v>13.5</c:v>
                </c:pt>
                <c:pt idx="4">
                  <c:v>8.1</c:v>
                </c:pt>
                <c:pt idx="5">
                  <c:v>5</c:v>
                </c:pt>
                <c:pt idx="6">
                  <c:v>3.3</c:v>
                </c:pt>
                <c:pt idx="7">
                  <c:v>1.7</c:v>
                </c:pt>
                <c:pt idx="8">
                  <c:v>1.3</c:v>
                </c:pt>
                <c:pt idx="9">
                  <c:v>0.7</c:v>
                </c:pt>
                <c:pt idx="10">
                  <c:v>0.5</c:v>
                </c:pt>
                <c:pt idx="11">
                  <c:v>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P(finish 1st), one production run per day, from 2 games in to 7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8"/>
          <c:y val="0.2"/>
          <c:w val="0.89"/>
          <c:h val="0.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key moment</c:v>
                </c:pt>
              </c:strCache>
            </c:strRef>
          </c:tx>
          <c:spPr>
            <a:solidFill>
              <a:srgbClr val="3A47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100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100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Man City</c:v>
                </c:pt>
              </c:strCache>
            </c:strRef>
          </c:tx>
          <c:spPr>
            <a:solidFill>
              <a:srgbClr val="7CC4F0"/>
            </a:solidFill>
            <a:ln w="31750" cap="flat">
              <a:solidFill>
                <a:srgbClr val="7CC4F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5A4E"/>
              </a:solidFill>
              <a:ln w="9525" cap="flat">
                <a:solidFill>
                  <a:srgbClr val="7CC4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41</c:v>
                </c:pt>
                <c:pt idx="1">
                  <c:v>43</c:v>
                </c:pt>
                <c:pt idx="2">
                  <c:v>41.9</c:v>
                </c:pt>
                <c:pt idx="3">
                  <c:v>41.4</c:v>
                </c:pt>
                <c:pt idx="4">
                  <c:v>47.3</c:v>
                </c:pt>
                <c:pt idx="5">
                  <c:v>43.2</c:v>
                </c:pt>
                <c:pt idx="6">
                  <c:v>43.3</c:v>
                </c:pt>
                <c:pt idx="7">
                  <c:v>43.5</c:v>
                </c:pt>
                <c:pt idx="8">
                  <c:v>42.6</c:v>
                </c:pt>
                <c:pt idx="9">
                  <c:v>43.7</c:v>
                </c:pt>
                <c:pt idx="10">
                  <c:v>42.6</c:v>
                </c:pt>
                <c:pt idx="11">
                  <c:v>33.2</c:v>
                </c:pt>
                <c:pt idx="12">
                  <c:v>40.4</c:v>
                </c:pt>
                <c:pt idx="13">
                  <c:v>42.2</c:v>
                </c:pt>
                <c:pt idx="14">
                  <c:v>40.6</c:v>
                </c:pt>
                <c:pt idx="15">
                  <c:v>40.2</c:v>
                </c:pt>
                <c:pt idx="16">
                  <c:v>40.4</c:v>
                </c:pt>
                <c:pt idx="17">
                  <c:v>40.6</c:v>
                </c:pt>
                <c:pt idx="18">
                  <c:v>51.7</c:v>
                </c:pt>
                <c:pt idx="19">
                  <c:v>58.4</c:v>
                </c:pt>
                <c:pt idx="20">
                  <c:v>56.8</c:v>
                </c:pt>
                <c:pt idx="21">
                  <c:v>56.3</c:v>
                </c:pt>
                <c:pt idx="22">
                  <c:v>56.6</c:v>
                </c:pt>
                <c:pt idx="23">
                  <c:v>57.1</c:v>
                </c:pt>
                <c:pt idx="24">
                  <c:v>56.2</c:v>
                </c:pt>
                <c:pt idx="25">
                  <c:v>56.4</c:v>
                </c:pt>
                <c:pt idx="26">
                  <c:v>56.5</c:v>
                </c:pt>
                <c:pt idx="27">
                  <c:v>56.6</c:v>
                </c:pt>
                <c:pt idx="28">
                  <c:v>57.3</c:v>
                </c:pt>
                <c:pt idx="29">
                  <c:v>56.9</c:v>
                </c:pt>
                <c:pt idx="30">
                  <c:v>56.4</c:v>
                </c:pt>
                <c:pt idx="31">
                  <c:v>58.6</c:v>
                </c:pt>
                <c:pt idx="32">
                  <c:v>58.5</c:v>
                </c:pt>
                <c:pt idx="33">
                  <c:v>56.2</c:v>
                </c:pt>
                <c:pt idx="34">
                  <c:v>54.8</c:v>
                </c:pt>
                <c:pt idx="35">
                  <c:v>56.3</c:v>
                </c:pt>
                <c:pt idx="36">
                  <c:v>59.1</c:v>
                </c:pt>
                <c:pt idx="37">
                  <c:v>57.9</c:v>
                </c:pt>
                <c:pt idx="38">
                  <c:v>58.4</c:v>
                </c:pt>
                <c:pt idx="39">
                  <c:v>53.2</c:v>
                </c:pt>
                <c:pt idx="40">
                  <c:v>64.6</c:v>
                </c:pt>
                <c:pt idx="41">
                  <c:v>64.3</c:v>
                </c:pt>
                <c:pt idx="42">
                  <c:v>64</c:v>
                </c:pt>
                <c:pt idx="43">
                  <c:v>63.7</c:v>
                </c:pt>
                <c:pt idx="44">
                  <c:v>64.2</c:v>
                </c:pt>
                <c:pt idx="45">
                  <c:v>63.6</c:v>
                </c:pt>
                <c:pt idx="46">
                  <c:v>66.6</c:v>
                </c:pt>
                <c:pt idx="47">
                  <c:v>59.1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Arsenal</c:v>
                </c:pt>
              </c:strCache>
            </c:strRef>
          </c:tx>
          <c:spPr>
            <a:solidFill>
              <a:srgbClr val="FF5A4E"/>
            </a:solidFill>
            <a:ln w="31750" cap="flat">
              <a:solidFill>
                <a:srgbClr val="FF5A4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FF6A"/>
              </a:solidFill>
              <a:ln w="9525" cap="flat">
                <a:solidFill>
                  <a:srgbClr val="FF5A4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43.7</c:v>
                </c:pt>
                <c:pt idx="1">
                  <c:v>45.5</c:v>
                </c:pt>
                <c:pt idx="2">
                  <c:v>45.9</c:v>
                </c:pt>
                <c:pt idx="3">
                  <c:v>45.1</c:v>
                </c:pt>
                <c:pt idx="4">
                  <c:v>42</c:v>
                </c:pt>
                <c:pt idx="5">
                  <c:v>48.3</c:v>
                </c:pt>
                <c:pt idx="6">
                  <c:v>47.9</c:v>
                </c:pt>
                <c:pt idx="7">
                  <c:v>48.3</c:v>
                </c:pt>
                <c:pt idx="8">
                  <c:v>48.9</c:v>
                </c:pt>
                <c:pt idx="9">
                  <c:v>48.5</c:v>
                </c:pt>
                <c:pt idx="10">
                  <c:v>49.2</c:v>
                </c:pt>
                <c:pt idx="11">
                  <c:v>61.4</c:v>
                </c:pt>
                <c:pt idx="12">
                  <c:v>55.8</c:v>
                </c:pt>
                <c:pt idx="13">
                  <c:v>53.2</c:v>
                </c:pt>
                <c:pt idx="14">
                  <c:v>54.5</c:v>
                </c:pt>
                <c:pt idx="15">
                  <c:v>55.4</c:v>
                </c:pt>
                <c:pt idx="16">
                  <c:v>54.7</c:v>
                </c:pt>
                <c:pt idx="17">
                  <c:v>54.1</c:v>
                </c:pt>
                <c:pt idx="18">
                  <c:v>39.1</c:v>
                </c:pt>
                <c:pt idx="19">
                  <c:v>34.4</c:v>
                </c:pt>
                <c:pt idx="20">
                  <c:v>36.2</c:v>
                </c:pt>
                <c:pt idx="21">
                  <c:v>37</c:v>
                </c:pt>
                <c:pt idx="22">
                  <c:v>37.1</c:v>
                </c:pt>
                <c:pt idx="23">
                  <c:v>36.4</c:v>
                </c:pt>
                <c:pt idx="24">
                  <c:v>36.9</c:v>
                </c:pt>
                <c:pt idx="25">
                  <c:v>36.5</c:v>
                </c:pt>
                <c:pt idx="26">
                  <c:v>36.9</c:v>
                </c:pt>
                <c:pt idx="27">
                  <c:v>36.3</c:v>
                </c:pt>
                <c:pt idx="28">
                  <c:v>36</c:v>
                </c:pt>
                <c:pt idx="29">
                  <c:v>36.7</c:v>
                </c:pt>
                <c:pt idx="30">
                  <c:v>36.8</c:v>
                </c:pt>
                <c:pt idx="31">
                  <c:v>34.3</c:v>
                </c:pt>
                <c:pt idx="32">
                  <c:v>34.3</c:v>
                </c:pt>
                <c:pt idx="33">
                  <c:v>37</c:v>
                </c:pt>
                <c:pt idx="34">
                  <c:v>38</c:v>
                </c:pt>
                <c:pt idx="35">
                  <c:v>36.4</c:v>
                </c:pt>
                <c:pt idx="36">
                  <c:v>33.7</c:v>
                </c:pt>
                <c:pt idx="37">
                  <c:v>34.6</c:v>
                </c:pt>
                <c:pt idx="38">
                  <c:v>34.5</c:v>
                </c:pt>
                <c:pt idx="39">
                  <c:v>39.1</c:v>
                </c:pt>
                <c:pt idx="40">
                  <c:v>31.3</c:v>
                </c:pt>
                <c:pt idx="41">
                  <c:v>31.6</c:v>
                </c:pt>
                <c:pt idx="42">
                  <c:v>31.4</c:v>
                </c:pt>
                <c:pt idx="43">
                  <c:v>32</c:v>
                </c:pt>
                <c:pt idx="44">
                  <c:v>31</c:v>
                </c:pt>
                <c:pt idx="45">
                  <c:v>31.5</c:v>
                </c:pt>
                <c:pt idx="46">
                  <c:v>29</c:v>
                </c:pt>
                <c:pt idx="47">
                  <c:v>34.9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Brighton</c:v>
                </c:pt>
              </c:strCache>
            </c:strRef>
          </c:tx>
          <c:spPr>
            <a:solidFill>
              <a:srgbClr val="C8FF6A"/>
            </a:solidFill>
            <a:ln w="3175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B9A92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Sheet1!$E$2:$E$49</c:f>
              <c:numCache>
                <c:formatCode>General</c:formatCode>
                <c:ptCount val="48"/>
                <c:pt idx="0">
                  <c:v>1.2</c:v>
                </c:pt>
                <c:pt idx="1">
                  <c:v>1.3</c:v>
                </c:pt>
                <c:pt idx="2">
                  <c:v>1.5</c:v>
                </c:pt>
                <c:pt idx="3">
                  <c:v>1.4</c:v>
                </c:pt>
                <c:pt idx="4">
                  <c:v>1</c:v>
                </c:pt>
                <c:pt idx="5">
                  <c:v>0.8</c:v>
                </c:pt>
                <c:pt idx="6">
                  <c:v>0.9</c:v>
                </c:pt>
                <c:pt idx="7">
                  <c:v>0.7</c:v>
                </c:pt>
                <c:pt idx="8">
                  <c:v>0.9</c:v>
                </c:pt>
                <c:pt idx="9">
                  <c:v>0.8</c:v>
                </c:pt>
                <c:pt idx="10">
                  <c:v>1</c:v>
                </c:pt>
                <c:pt idx="11">
                  <c:v>0.5</c:v>
                </c:pt>
                <c:pt idx="12">
                  <c:v>1.2</c:v>
                </c:pt>
                <c:pt idx="13">
                  <c:v>1.6</c:v>
                </c:pt>
                <c:pt idx="14">
                  <c:v>1.4</c:v>
                </c:pt>
                <c:pt idx="15">
                  <c:v>1.3</c:v>
                </c:pt>
                <c:pt idx="16">
                  <c:v>1.6</c:v>
                </c:pt>
                <c:pt idx="17">
                  <c:v>1.9</c:v>
                </c:pt>
                <c:pt idx="18">
                  <c:v>4.3</c:v>
                </c:pt>
                <c:pt idx="19">
                  <c:v>3.6</c:v>
                </c:pt>
                <c:pt idx="20">
                  <c:v>3.4</c:v>
                </c:pt>
                <c:pt idx="21">
                  <c:v>3.1</c:v>
                </c:pt>
                <c:pt idx="22">
                  <c:v>2.9</c:v>
                </c:pt>
                <c:pt idx="23">
                  <c:v>3</c:v>
                </c:pt>
                <c:pt idx="24">
                  <c:v>3.4</c:v>
                </c:pt>
                <c:pt idx="25">
                  <c:v>3.5</c:v>
                </c:pt>
                <c:pt idx="26">
                  <c:v>3</c:v>
                </c:pt>
                <c:pt idx="27">
                  <c:v>3.3</c:v>
                </c:pt>
                <c:pt idx="28">
                  <c:v>3.3</c:v>
                </c:pt>
                <c:pt idx="29">
                  <c:v>3</c:v>
                </c:pt>
                <c:pt idx="30">
                  <c:v>3.1</c:v>
                </c:pt>
                <c:pt idx="31">
                  <c:v>3.2</c:v>
                </c:pt>
                <c:pt idx="32">
                  <c:v>3.6</c:v>
                </c:pt>
                <c:pt idx="33">
                  <c:v>3.2</c:v>
                </c:pt>
                <c:pt idx="34">
                  <c:v>3.3</c:v>
                </c:pt>
                <c:pt idx="35">
                  <c:v>3.4</c:v>
                </c:pt>
                <c:pt idx="36">
                  <c:v>3.5</c:v>
                </c:pt>
                <c:pt idx="37">
                  <c:v>3.6</c:v>
                </c:pt>
                <c:pt idx="38">
                  <c:v>3.5</c:v>
                </c:pt>
                <c:pt idx="39">
                  <c:v>4.9</c:v>
                </c:pt>
                <c:pt idx="40">
                  <c:v>2.9</c:v>
                </c:pt>
                <c:pt idx="41">
                  <c:v>3.1</c:v>
                </c:pt>
                <c:pt idx="42">
                  <c:v>3.5</c:v>
                </c:pt>
                <c:pt idx="43">
                  <c:v>3.1</c:v>
                </c:pt>
                <c:pt idx="44">
                  <c:v>3.6</c:v>
                </c:pt>
                <c:pt idx="45">
                  <c:v>3.7</c:v>
                </c:pt>
                <c:pt idx="46">
                  <c:v>3.2</c:v>
                </c:pt>
                <c:pt idx="47">
                  <c:v>5.3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8B9A92"/>
            </a:solidFill>
            <a:ln w="31750" cap="flat">
              <a:solidFill>
                <a:srgbClr val="8B9A9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CC4F0"/>
              </a:solidFill>
              <a:ln w="9525" cap="flat">
                <a:solidFill>
                  <a:srgbClr val="8B9A9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Sheet1!$F$2:$F$49</c:f>
              <c:numCache>
                <c:formatCode>General</c:formatCode>
                <c:ptCount val="48"/>
                <c:pt idx="0">
                  <c:v>14.1</c:v>
                </c:pt>
                <c:pt idx="1">
                  <c:v>10.2</c:v>
                </c:pt>
                <c:pt idx="2">
                  <c:v>10.7</c:v>
                </c:pt>
                <c:pt idx="3">
                  <c:v>12.1</c:v>
                </c:pt>
                <c:pt idx="4">
                  <c:v>9.7</c:v>
                </c:pt>
                <c:pt idx="5">
                  <c:v>7.7</c:v>
                </c:pt>
                <c:pt idx="6">
                  <c:v>7.9</c:v>
                </c:pt>
                <c:pt idx="7">
                  <c:v>7.5</c:v>
                </c:pt>
                <c:pt idx="8">
                  <c:v>7.6</c:v>
                </c:pt>
                <c:pt idx="9">
                  <c:v>7</c:v>
                </c:pt>
                <c:pt idx="10">
                  <c:v>7.2</c:v>
                </c:pt>
                <c:pt idx="11">
                  <c:v>4.9</c:v>
                </c:pt>
                <c:pt idx="12">
                  <c:v>2.6</c:v>
                </c:pt>
                <c:pt idx="13">
                  <c:v>3</c:v>
                </c:pt>
                <c:pt idx="14">
                  <c:v>3.5</c:v>
                </c:pt>
                <c:pt idx="15">
                  <c:v>3.1</c:v>
                </c:pt>
                <c:pt idx="16">
                  <c:v>3.3</c:v>
                </c:pt>
                <c:pt idx="17">
                  <c:v>3.4</c:v>
                </c:pt>
                <c:pt idx="18">
                  <c:v>4.9</c:v>
                </c:pt>
                <c:pt idx="19">
                  <c:v>3.6</c:v>
                </c:pt>
                <c:pt idx="20">
                  <c:v>3.6</c:v>
                </c:pt>
                <c:pt idx="21">
                  <c:v>3.6</c:v>
                </c:pt>
                <c:pt idx="22">
                  <c:v>3.4</c:v>
                </c:pt>
                <c:pt idx="23">
                  <c:v>3.5</c:v>
                </c:pt>
                <c:pt idx="24">
                  <c:v>3.5</c:v>
                </c:pt>
                <c:pt idx="25">
                  <c:v>3.6</c:v>
                </c:pt>
                <c:pt idx="26">
                  <c:v>3.6</c:v>
                </c:pt>
                <c:pt idx="27">
                  <c:v>3.8</c:v>
                </c:pt>
                <c:pt idx="28">
                  <c:v>3.4</c:v>
                </c:pt>
                <c:pt idx="29">
                  <c:v>3.4</c:v>
                </c:pt>
                <c:pt idx="30">
                  <c:v>3.7</c:v>
                </c:pt>
                <c:pt idx="31">
                  <c:v>3.9</c:v>
                </c:pt>
                <c:pt idx="32">
                  <c:v>3.6</c:v>
                </c:pt>
                <c:pt idx="33">
                  <c:v>3.6</c:v>
                </c:pt>
                <c:pt idx="34">
                  <c:v>3.9</c:v>
                </c:pt>
                <c:pt idx="35">
                  <c:v>3.9</c:v>
                </c:pt>
                <c:pt idx="36">
                  <c:v>3.7</c:v>
                </c:pt>
                <c:pt idx="37">
                  <c:v>3.9</c:v>
                </c:pt>
                <c:pt idx="38">
                  <c:v>3.6</c:v>
                </c:pt>
                <c:pt idx="39">
                  <c:v>2.8</c:v>
                </c:pt>
                <c:pt idx="40">
                  <c:v>1.2</c:v>
                </c:pt>
                <c:pt idx="41">
                  <c:v>1</c:v>
                </c:pt>
                <c:pt idx="42">
                  <c:v>1.1</c:v>
                </c:pt>
                <c:pt idx="43">
                  <c:v>1.2</c:v>
                </c:pt>
                <c:pt idx="44">
                  <c:v>1.2</c:v>
                </c:pt>
                <c:pt idx="45">
                  <c:v>1.2</c:v>
                </c:pt>
                <c:pt idx="46">
                  <c:v>1.2</c:v>
                </c:pt>
                <c:pt idx="47">
                  <c:v>0.7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Final-position probabilities, grouped by how confident the model was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</c:v>
                </c:pt>
                <c:pt idx="1">
                  <c:v>10</c:v>
                </c:pt>
                <c:pt idx="2">
                  <c:v>20.6</c:v>
                </c:pt>
                <c:pt idx="3">
                  <c:v>38</c:v>
                </c:pt>
                <c:pt idx="4">
                  <c:v>59.3</c:v>
                </c:pt>
                <c:pt idx="5">
                  <c:v>77.8</c:v>
                </c:pt>
                <c:pt idx="6">
                  <c:v>90.3</c:v>
                </c:pt>
                <c:pt idx="7">
                  <c:v>98.7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Actually happened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3.4</c:v>
                </c:pt>
                <c:pt idx="1">
                  <c:v>9.4</c:v>
                </c:pt>
                <c:pt idx="2">
                  <c:v>16.4</c:v>
                </c:pt>
                <c:pt idx="3">
                  <c:v>37.3</c:v>
                </c:pt>
                <c:pt idx="4">
                  <c:v>50.3</c:v>
                </c:pt>
                <c:pt idx="5">
                  <c:v>80.9</c:v>
                </c:pt>
                <c:pt idx="6">
                  <c:v>89.2</c:v>
                </c:pt>
                <c:pt idx="7">
                  <c:v>94.4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football-league-simulator.streamlit.app" TargetMode="External"/><Relationship Id="rId3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4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football-league-simulator.streamlit.app" TargetMode="External"/><Relationship Id="rId3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5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football-league-simulator.streamlit.app" TargetMode="External"/><Relationship Id="rId2" Type="http://schemas.openxmlformats.org/officeDocument/2006/relationships/hyperlink" Target="https://github.com/vickyfriss/football-league-predictions" TargetMode="External"/><Relationship Id="rId3" Type="http://schemas.openxmlformats.org/officeDocument/2006/relationships/hyperlink" Target="https://medium.com/@vickyfrissdekereki" TargetMode="External"/><Relationship Id="rId4" Type="http://schemas.openxmlformats.org/officeDocument/2006/relationships/hyperlink" Target="https://linkedin.com/in/victoria-friss-de-kereki" TargetMode="External"/><Relationship Id="rId5" Type="http://schemas.openxmlformats.org/officeDocument/2006/relationships/image" Target="../media/image-26-1.png"/><Relationship Id="rId6" Type="http://schemas.openxmlformats.org/officeDocument/2006/relationships/image" Target="../media/image-26-2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welv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691640" cy="4379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377440" y="548640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1800" dirty="0"/>
          </a:p>
        </p:txBody>
      </p:sp>
      <p:pic>
        <p:nvPicPr>
          <p:cNvPr id="4" name="Image 1" descr="Training Ground Guru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548640"/>
            <a:ext cx="393192" cy="46634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985455" y="566928"/>
            <a:ext cx="3657600" cy="457200"/>
          </a:xfrm>
          <a:prstGeom prst="roundRect">
            <a:avLst>
              <a:gd name="adj" fmla="val 50000"/>
            </a:avLst>
          </a:prstGeom>
          <a:solidFill>
            <a:srgbClr val="2A1408">
              <a:alpha val="90000"/>
            </a:srgbClr>
          </a:solidFill>
          <a:ln w="15875">
            <a:solidFill>
              <a:srgbClr val="8A3A1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85455" y="5669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●  </a:t>
            </a:r>
            <a:pPr algn="ctr" indent="0" marL="0">
              <a:buNone/>
            </a:pPr>
            <a:r>
              <a:rPr lang="en-US" sz="17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Premium Member Masterclass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0574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Monday 19 October</a:t>
            </a:r>
            <a:pPr indent="0" marL="0">
              <a:buNone/>
            </a:pPr>
            <a:r>
              <a:rPr lang="en-US" sz="2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19:00 UK / 20:00 CET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51460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 outcomes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251960"/>
            <a:ext cx="6629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the numbers can (and can’t) tell us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about who’s going to win.</a:t>
            </a:r>
            <a:endParaRPr lang="en-US" sz="1800" dirty="0"/>
          </a:p>
        </p:txBody>
      </p:sp>
      <p:pic>
        <p:nvPicPr>
          <p:cNvPr id="10" name="Image 2" descr="Victoria Friss de Kerek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74520"/>
            <a:ext cx="2286000" cy="2286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995160" y="42976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6995160" y="4754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9516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Creator of the Football League Simulator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4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WHO'S TALKING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     Hi, I'm Vicky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4480560"/>
          </a:xfrm>
          <a:prstGeom prst="roundRect">
            <a:avLst>
              <a:gd name="adj" fmla="val 3333"/>
            </a:avLst>
          </a:prstGeom>
          <a:solidFill>
            <a:srgbClr val="141B18">
              <a:alpha val="65000"/>
            </a:srgbClr>
          </a:solidFill>
          <a:ln w="12700">
            <a:solidFill>
              <a:srgbClr val="26302B"/>
            </a:solidFill>
            <a:prstDash val="solid"/>
          </a:ln>
        </p:spPr>
      </p:sp>
      <p:pic>
        <p:nvPicPr>
          <p:cNvPr id="5" name="Image 0" descr="Photo of Victoria Friss de Kereki">    </p:cNvPr>
          <p:cNvPicPr>
            <a:picLocks noChangeAspect="1"/>
          </p:cNvPicPr>
          <p:nvPr/>
        </p:nvPicPr>
        <p:blipFill>
          <a:blip r:embed="rId1"/>
          <a:srcRect l="2528" r="2528" t="0" b="0"/>
          <a:stretch/>
        </p:blipFill>
        <p:spPr>
          <a:xfrm>
            <a:off x="640080" y="1828800"/>
            <a:ext cx="3108960" cy="4206240"/>
          </a:xfrm>
          <a:prstGeom prst="rect">
            <a:avLst/>
          </a:prstGeom>
        </p:spPr>
      </p:pic>
      <p:pic>
        <p:nvPicPr>
          <p:cNvPr id="6" name="Image 1" descr="Flag of Urugu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36576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43400" y="15727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FROM FINANCE TO FOOTBALL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343400" y="18196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Years in finance + BI, a lot of it around fintech, then all in on football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343400" y="21671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LEARNING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2414016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MSc Finance (2023) · MSc Data Science &amp; Analytics (2024)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Context Engineering course with Twelve (2026)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343400" y="303580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CURRENTLY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328269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 since June 2026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36301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SIDE PROJECTS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343400" y="38770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analytics on Medium + tonight's 9-league simulator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42245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OFF THE PITCH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343400" y="447141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Weightlifting, strongwoman, CrossFit… and rugby (recovering post-ACL surgery)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34340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2628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leagues simulated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81228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9516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699516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seasons per league, per run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28116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46404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225</a:t>
            </a:r>
            <a:endParaRPr lang="en-US" sz="3200" dirty="0"/>
          </a:p>
        </p:txBody>
      </p:sp>
      <p:sp>
        <p:nvSpPr>
          <p:cNvPr id="25" name="Text 21"/>
          <p:cNvSpPr txBox="1"/>
          <p:nvPr/>
        </p:nvSpPr>
        <p:spPr>
          <a:xfrm>
            <a:off x="946404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days running live, every day since Mar 2026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TONIGHT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we'll build tonight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459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one idea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64592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Distributions, not predictions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1460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51460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Building the model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251460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Odds, Poisson, ratings, shrinkage, promoted teams, win/draw/loss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38328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Simulating the season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338328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Carlo: 10,000 seasons in a tenth of a second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25196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25196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Does it work?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425196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season's calls, calibration, and what broke in production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12064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1206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Q&amp;A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512064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Your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 · THE ONE IDEA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Stop asking “who will win?” Ask “how likely?”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2A1408">
              <a:alpha val="7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POINT PREDICTION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 will win the league.”</a:t>
            </a:r>
            <a:endParaRPr lang="en-US" sz="2100" dirty="0"/>
          </a:p>
        </p:txBody>
      </p:sp>
      <p:sp>
        <p:nvSpPr>
          <p:cNvPr id="7" name="click1_0"/>
          <p:cNvSpPr/>
          <p:nvPr/>
        </p:nvSpPr>
        <p:spPr>
          <a:xfrm>
            <a:off x="548640" y="324612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click1_1"/>
          <p:cNvSpPr txBox="1"/>
          <p:nvPr/>
        </p:nvSpPr>
        <p:spPr>
          <a:xfrm>
            <a:off x="8229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PROBABILITY DISTRIBUTION</a:t>
            </a:r>
            <a:endParaRPr lang="en-US" sz="1200" dirty="0"/>
          </a:p>
        </p:txBody>
      </p:sp>
      <p:sp>
        <p:nvSpPr>
          <p:cNvPr id="9" name="click1_2"/>
          <p:cNvSpPr txBox="1"/>
          <p:nvPr/>
        </p:nvSpPr>
        <p:spPr>
          <a:xfrm>
            <a:off x="822960" y="3703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City: 59% to finish 1st, 31% 2nd, &gt;99% top four… and Arsenal still win it 35% of the time.”</a:t>
            </a:r>
            <a:endParaRPr lang="en-US" sz="1800" dirty="0"/>
          </a:p>
        </p:txBody>
      </p:sp>
      <p:sp>
        <p:nvSpPr>
          <p:cNvPr id="10" name="click1_3"/>
          <p:cNvSpPr txBox="1"/>
          <p:nvPr/>
        </p:nvSpPr>
        <p:spPr>
          <a:xfrm>
            <a:off x="548640" y="52120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simulated season is one sample. The useful part is the spread.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close is 2nd? How real is the drop zone? A single ranking throws that away.</a:t>
            </a:r>
            <a:endParaRPr lang="en-US" sz="1400" dirty="0"/>
          </a:p>
        </p:txBody>
      </p:sp>
      <p:graphicFrame>
        <p:nvGraphicFramePr>
          <p:cNvPr id="11" name="click1_4" descr=""/>
          <p:cNvGraphicFramePr/>
          <p:nvPr/>
        </p:nvGraphicFramePr>
        <p:xfrm>
          <a:off x="6126480" y="160020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 · BUILDING THE MODEL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whole pipeline on one slide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history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6B75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Current table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91840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ratings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 &amp; defence per team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goals, plus shrinkage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68112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50992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650992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probabilities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650992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home / draw / away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if priced, else model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342632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644384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27264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827264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27264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full seasons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simulated at once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518904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820656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0F2418">
              <a:alpha val="90000"/>
            </a:srgbClr>
          </a:solidFill>
          <a:ln w="19050">
            <a:solidFill>
              <a:srgbClr val="3EE07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03536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0003536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003536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P(every team,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position)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743200" y="2788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3291840" y="4572000"/>
            <a:ext cx="8321040" cy="1143000"/>
          </a:xfrm>
          <a:prstGeom prst="roundRect">
            <a:avLst>
              <a:gd name="adj" fmla="val 9600"/>
            </a:avLst>
          </a:prstGeom>
          <a:solidFill>
            <a:srgbClr val="18211D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520440" y="457200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current table never enters the probability model.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the starting state: every simulated season begins from today's points and goal difference, and only the remaining fixtures are played out.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1 · THE MARKET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 are a forecast with a margin baked 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v Manchester City · 24 Oct · one UK bookmaker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Home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Draw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Away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Sum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Decimal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4.75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1.60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 /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21.1%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23.8%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62.5%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107.4%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De-vigged (÷ the sum)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19.6%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58.2%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100%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52628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They add up to 107.4%, not 100%.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extra 7.4% is the bookmaker's margin (the “vig”). Averaged over ~12 bookmakers: 22% / 23% / 55%.</a:t>
            </a:r>
            <a:endParaRPr lang="en-US" sz="1400" dirty="0"/>
          </a:p>
        </p:txBody>
      </p:sp>
      <p:sp>
        <p:nvSpPr>
          <p:cNvPr id="7" name="code"/>
          <p:cNvSpPr/>
          <p:nvPr/>
        </p:nvSpPr>
        <p:spPr>
          <a:xfrm>
            <a:off x="548640" y="5120640"/>
            <a:ext cx="6675120" cy="1143000"/>
          </a:xfrm>
          <a:prstGeom prst="roundRect">
            <a:avLst>
              <a:gd name="adj" fmla="val 96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248656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/ odds (sums to ~107%)  →  divide by the row sum  →  average the bookmakers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532120"/>
            <a:ext cx="6263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"home_odds"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"draw_odds"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"away_odds"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market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groupby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mean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06640" y="4526280"/>
            <a:ext cx="42062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52628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use the market at all? </a:t>
            </a:r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prices in what a goals model can't see: injuries, team news, rotation.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2 · GOALS AS A COUNT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we can model goals with a Poisson distribution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rare and arrive one at a time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over 90 minutes: close to the textbook Poisson setting (calls to a help desk, buses at a stop).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number gives the whole shape: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average rate λ. Know λ and you know P(0 goals), P(1), P(5)…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approximation, not a law: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real goal counts are a little more spread out, and the two teams' goals are slightly linked. Close enough to build 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3434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3A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P(k goals) = </a:t>
            </a:r>
            <a:pPr algn="ctr"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ᵏ · e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−λ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/ k!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77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 step: estimate a λ for each team in each match. For Aston Villa v Manchester City: λ = 1.47 vs 1.9.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0" y="1600200"/>
          <a:ext cx="56692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3 · TEAM RATINGS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λ is built from four numbers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1800" baseline="-4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=  league avg  ×  </a:t>
            </a:r>
            <a:pPr algn="ctr" indent="0" marL="0">
              <a:buNone/>
            </a:pPr>
            <a:r>
              <a:rPr lang="en-US" sz="18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(home)  ×  </a:t>
            </a:r>
            <a:pPr algn="ctr" indent="0" marL="0">
              <a:buNone/>
            </a:pPr>
            <a:r>
              <a:rPr lang="en-US" sz="18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(away)  ×  home adv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WORKED EXAMPLE  ·  Manchester City away at Aston Villa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1.39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 average goals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 team per game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342900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1.38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 attack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(1.0 = average)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630936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1.00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defence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(above 1 = leakier)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=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918972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972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1.90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Man City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 to score (λ)</a:t>
            </a:r>
            <a:endParaRPr lang="en-US" sz="1250" dirty="0"/>
          </a:p>
        </p:txBody>
      </p:sp>
      <p:sp>
        <p:nvSpPr>
          <p:cNvPr id="22" name="code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20056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condensed from 3_probabilities.py  ·  this season + last, recent games count up to 2×  ·  _w = weighted  ·  1.0 = average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303520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linspace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matches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goals_for_w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goals_against_w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home_adv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weighted_mean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×1.35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4 · SMALL SAMPLES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 games in, how much should we trust a rating?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Early-season ratings are noisy.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lucky 4–0 swings a 7-game average enormously.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 pull every rating towards a sensible target,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and fade the pull out as evidence arrives.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starting points.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teams keep 50% of their raw rating from day one (last season counts); promoted and relegated teams start at 10%. Both reach full trust at half a season: one game against every other team (19 in the Premier League).</a:t>
            </a:r>
            <a:endParaRPr lang="en-US" sz="1450" dirty="0"/>
          </a:p>
        </p:txBody>
      </p:sp>
      <p:sp>
        <p:nvSpPr>
          <p:cNvPr id="5" name="code"/>
          <p:cNvSpPr/>
          <p:nvPr/>
        </p:nvSpPr>
        <p:spPr>
          <a:xfrm>
            <a:off x="548640" y="4846320"/>
            <a:ext cx="5257800" cy="1417320"/>
          </a:xfrm>
          <a:prstGeom prst="roundRect">
            <a:avLst>
              <a:gd name="adj" fmla="val 774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974336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start: 0.5 established, 0.1 promoted  ·  target: 1.0 or the prior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57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n_teams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19 in the PL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clip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035040" y="1600200"/>
          <a:ext cx="55778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991295" y="2111350"/>
            <a:ext cx="0" cy="2359152"/>
          </a:xfrm>
          <a:prstGeom prst="line">
            <a:avLst/>
          </a:prstGeom>
          <a:noFill/>
          <a:ln w="15875">
            <a:solidFill>
              <a:srgbClr val="8B9A92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9064447" y="410474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half season (19 games in the PL)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63640" y="5577840"/>
            <a:ext cx="5349240" cy="640080"/>
          </a:xfrm>
          <a:prstGeom prst="roundRect">
            <a:avLst>
              <a:gd name="adj" fmla="val 17143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63640" y="557784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Today (7 games): </a:t>
            </a:r>
            <a:pPr algn="ctr" indent="0" marL="0">
              <a:buNone/>
            </a:pPr>
            <a:r>
              <a:rPr lang="en-US" sz="1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keep 68%</a:t>
            </a:r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</a:t>
            </a:r>
            <a:pPr algn="ctr" indent="0" marL="0">
              <a:buNone/>
            </a:pPr>
            <a:r>
              <a:rPr lang="en-US" sz="1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43%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5 · A SHARPER TARGET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teams aren't average, so don't shrink them to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RELEGATED INTO A LEAGUE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3, into the 2025/26 Championship</a:t>
            </a:r>
            <a:endParaRPr lang="en-US" sz="1300" dirty="0"/>
          </a:p>
        </p:txBody>
      </p:sp>
      <p:sp>
        <p:nvSpPr>
          <p:cNvPr id="7" name="click1_0"/>
          <p:cNvSpPr txBox="1"/>
          <p:nvPr/>
        </p:nvSpPr>
        <p:spPr>
          <a:xfrm>
            <a:off x="82296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×1.22</a:t>
            </a:r>
            <a:endParaRPr lang="en-US" sz="4400" dirty="0"/>
          </a:p>
        </p:txBody>
      </p:sp>
      <p:sp>
        <p:nvSpPr>
          <p:cNvPr id="8" name="click1_1"/>
          <p:cNvSpPr txBox="1"/>
          <p:nvPr/>
        </p:nvSpPr>
        <p:spPr>
          <a:xfrm>
            <a:off x="82296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9" name="click1_2"/>
          <p:cNvSpPr txBox="1"/>
          <p:nvPr/>
        </p:nvSpPr>
        <p:spPr>
          <a:xfrm>
            <a:off x="329184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×0.95</a:t>
            </a:r>
            <a:endParaRPr lang="en-US" sz="4400" dirty="0"/>
          </a:p>
        </p:txBody>
      </p:sp>
      <p:sp>
        <p:nvSpPr>
          <p:cNvPr id="10" name="click1_3"/>
          <p:cNvSpPr txBox="1"/>
          <p:nvPr/>
        </p:nvSpPr>
        <p:spPr>
          <a:xfrm>
            <a:off x="329184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1" name="click1_4"/>
          <p:cNvSpPr txBox="1"/>
          <p:nvPr/>
        </p:nvSpPr>
        <p:spPr>
          <a:xfrm>
            <a:off x="82296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Ipswich and Southampton outscored the league average; Leicester didn't. Only 3 teams: a direction, not a precise number.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2A1408">
              <a:alpha val="8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PROMOTED INTO A LEAGUE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14, big-5 leagues, 2025/26</a:t>
            </a:r>
            <a:endParaRPr lang="en-US" sz="1300" dirty="0"/>
          </a:p>
        </p:txBody>
      </p:sp>
      <p:sp>
        <p:nvSpPr>
          <p:cNvPr id="15" name="click1_0"/>
          <p:cNvSpPr txBox="1"/>
          <p:nvPr/>
        </p:nvSpPr>
        <p:spPr>
          <a:xfrm>
            <a:off x="644652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×0.81</a:t>
            </a:r>
            <a:endParaRPr lang="en-US" sz="4400" dirty="0"/>
          </a:p>
        </p:txBody>
      </p:sp>
      <p:sp>
        <p:nvSpPr>
          <p:cNvPr id="16" name="click1_1"/>
          <p:cNvSpPr txBox="1"/>
          <p:nvPr/>
        </p:nvSpPr>
        <p:spPr>
          <a:xfrm>
            <a:off x="644652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17" name="click1_2"/>
          <p:cNvSpPr txBox="1"/>
          <p:nvPr/>
        </p:nvSpPr>
        <p:spPr>
          <a:xfrm>
            <a:off x="891540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×1.18</a:t>
            </a:r>
            <a:endParaRPr lang="en-US" sz="4400" dirty="0"/>
          </a:p>
        </p:txBody>
      </p:sp>
      <p:sp>
        <p:nvSpPr>
          <p:cNvPr id="18" name="click1_3"/>
          <p:cNvSpPr txBox="1"/>
          <p:nvPr/>
        </p:nvSpPr>
        <p:spPr>
          <a:xfrm>
            <a:off x="891540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9" name="click1_4"/>
          <p:cNvSpPr txBox="1"/>
          <p:nvPr/>
        </p:nvSpPr>
        <p:spPr>
          <a:xfrm>
            <a:off x="644652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All 14 scored below their new league's average, and 12 of 14 conceded more.</a:t>
            </a:r>
            <a:endParaRPr lang="en-US" sz="1400" dirty="0"/>
          </a:p>
        </p:txBody>
      </p:sp>
      <p:sp>
        <p:nvSpPr>
          <p:cNvPr id="20" name="click1_0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This season: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Coventry City, Hull City, and Ipswich Town started 2026/27 shrunk towards the promoted-team target, not the league average. Same shrinkage weight, sharper target.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6 · SCORELINES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two rates to every possible scoreline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Villa ↓  Man City →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8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A7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7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0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71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75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3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5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D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57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3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1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3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9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8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C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D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94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% chance of each exact score · rows: Aston Villa goals, columns: Man City goals</a:t>
            </a:r>
            <a:endParaRPr lang="en-US" sz="1100" dirty="0"/>
          </a:p>
        </p:txBody>
      </p:sp>
      <p:sp>
        <p:nvSpPr>
          <p:cNvPr id="6" name="code"/>
          <p:cNvSpPr/>
          <p:nvPr/>
        </p:nvSpPr>
        <p:spPr>
          <a:xfrm>
            <a:off x="5943600" y="1645920"/>
            <a:ext cx="5669280" cy="1325880"/>
          </a:xfrm>
          <a:prstGeom prst="roundRect">
            <a:avLst>
              <a:gd name="adj" fmla="val 8276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72200" y="177393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whole grid in one line  ·  independence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205740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grid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lam_home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lam_away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P(2–1) = P(home scores 2) × P(away scores 1)</a:t>
            </a:r>
            <a:endParaRPr lang="en-US" sz="1250" dirty="0"/>
          </a:p>
        </p:txBody>
      </p:sp>
      <p:graphicFrame>
        <p:nvGraphicFramePr>
          <p:cNvPr id="9" name="click1_0" descr=""/>
          <p:cNvGraphicFramePr/>
          <p:nvPr/>
        </p:nvGraphicFramePr>
        <p:xfrm>
          <a:off x="5852160" y="315468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7 · COMBINING FORECASTS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where it exists, model where it doesn't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311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fixtures left to simulate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21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846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already priced by bookmakers (7%). The other 290 use the model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828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RULE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bookmakers have priced the match, use their de-vigged probabilities. If not, use the model.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343400" y="3977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4114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WHY A SIMPLE SWITCH?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4348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deliberate: transparent, easy to debug, and wherever the market has a price, it already knows more than a goals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 · SIMULATING THE SEASON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at once, in a tenth of a second</a:t>
            </a:r>
            <a:endParaRPr lang="en-US" sz="3000" dirty="0"/>
          </a:p>
        </p:txBody>
      </p:sp>
      <p:sp>
        <p:nvSpPr>
          <p:cNvPr id="4" name="code"/>
          <p:cNvSpPr/>
          <p:nvPr/>
        </p:nvSpPr>
        <p:spPr>
          <a:xfrm>
            <a:off x="548640" y="1600200"/>
            <a:ext cx="6766560" cy="2514600"/>
          </a:xfrm>
          <a:prstGeom prst="roundRect">
            <a:avLst>
              <a:gd name="adj" fmla="val 4364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28216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run_simulations()  ·  4_simulations.py (simplified)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63550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rng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random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_000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n_matches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one draw per match, per season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result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10,000 tables,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all at once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251960"/>
            <a:ext cx="6766560" cy="1645920"/>
          </a:xfrm>
          <a:prstGeom prst="roundRect">
            <a:avLst>
              <a:gd name="adj" fmla="val 666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25196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3.1M matches in 0.08s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0292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× 311 fixtures. The original season-by-season loop took ~3 minutes per league.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543800" y="1600200"/>
          <a:ext cx="40690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7543800" y="5257800"/>
            <a:ext cx="4069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Noise shrinks with 1/√n: 4× the runs only halves it. At 10,000, any probability wobbles by about ±0.5 points at most.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DELIVERABLE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2026/27: every team, every position</a:t>
            </a:r>
            <a:endParaRPr lang="en-US" sz="3000" dirty="0"/>
          </a:p>
        </p:txBody>
      </p:sp>
      <p:pic>
        <p:nvPicPr>
          <p:cNvPr id="4" name="Image 0" descr="Premier League table from the live dashboard: each team's chance of finishing in every position">
            <a:hlinkClick r:id="rId2" tooltip="Open the live dashboard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9491472" cy="33723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8402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Straight from the live dashboard: % chance of finishing in each position, from 10,000 simulated seasons. </a:t>
            </a:r>
            <a:pPr indent="0" marL="0">
              <a:buNone/>
            </a:pPr>
            <a:r>
              <a:rPr lang="en-US" sz="11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100" dirty="0"/>
          </a:p>
        </p:txBody>
      </p:sp>
      <p:sp>
        <p:nvSpPr>
          <p:cNvPr id="6" name="click1_0"/>
          <p:cNvSpPr/>
          <p:nvPr/>
        </p:nvSpPr>
        <p:spPr>
          <a:xfrm>
            <a:off x="2523482" y="1970940"/>
            <a:ext cx="1480103" cy="3100500"/>
          </a:xfrm>
          <a:prstGeom prst="rect">
            <a:avLst/>
          </a:prstGeom>
          <a:ln w="28575">
            <a:solidFill>
              <a:srgbClr val="3EE07A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2066282" y="1581912"/>
            <a:ext cx="23945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1st + 2nd + 3rd + 4th  →</a:t>
            </a:r>
            <a:endParaRPr lang="en-US" sz="1100" dirty="0"/>
          </a:p>
        </p:txBody>
      </p:sp>
      <p:sp>
        <p:nvSpPr>
          <p:cNvPr id="8" name="click1_2"/>
          <p:cNvSpPr/>
          <p:nvPr/>
        </p:nvSpPr>
        <p:spPr>
          <a:xfrm>
            <a:off x="10113264" y="1970940"/>
            <a:ext cx="713232" cy="3100500"/>
          </a:xfrm>
          <a:prstGeom prst="rect">
            <a:avLst/>
          </a:prstGeom>
          <a:solidFill>
            <a:srgbClr val="E6F6EC"/>
          </a:solidFill>
          <a:ln w="28575">
            <a:solidFill>
              <a:srgbClr val="3EE07A"/>
            </a:solidFill>
            <a:prstDash val="solid"/>
          </a:ln>
        </p:spPr>
      </p:sp>
      <p:sp>
        <p:nvSpPr>
          <p:cNvPr id="9" name="click1_3"/>
          <p:cNvSpPr txBox="1"/>
          <p:nvPr/>
        </p:nvSpPr>
        <p:spPr>
          <a:xfrm>
            <a:off x="10113264" y="19709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5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TOP 4</a:t>
            </a:r>
            <a:endParaRPr lang="en-US" sz="750" dirty="0"/>
          </a:p>
        </p:txBody>
      </p:sp>
      <p:sp>
        <p:nvSpPr>
          <p:cNvPr id="10" name="click1_4"/>
          <p:cNvSpPr txBox="1"/>
          <p:nvPr/>
        </p:nvSpPr>
        <p:spPr>
          <a:xfrm>
            <a:off x="10113264" y="2118583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99.5%</a:t>
            </a:r>
            <a:endParaRPr lang="en-US" sz="800" dirty="0"/>
          </a:p>
        </p:txBody>
      </p:sp>
      <p:sp>
        <p:nvSpPr>
          <p:cNvPr id="11" name="click1_5"/>
          <p:cNvSpPr txBox="1"/>
          <p:nvPr/>
        </p:nvSpPr>
        <p:spPr>
          <a:xfrm>
            <a:off x="10113264" y="2266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98.5%</a:t>
            </a:r>
            <a:endParaRPr lang="en-US" sz="800" dirty="0"/>
          </a:p>
        </p:txBody>
      </p:sp>
      <p:sp>
        <p:nvSpPr>
          <p:cNvPr id="12" name="click1_6"/>
          <p:cNvSpPr txBox="1"/>
          <p:nvPr/>
        </p:nvSpPr>
        <p:spPr>
          <a:xfrm>
            <a:off x="10113264" y="2413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80.9%</a:t>
            </a:r>
            <a:endParaRPr lang="en-US" sz="800" dirty="0"/>
          </a:p>
        </p:txBody>
      </p:sp>
      <p:sp>
        <p:nvSpPr>
          <p:cNvPr id="13" name="click1_7"/>
          <p:cNvSpPr txBox="1"/>
          <p:nvPr/>
        </p:nvSpPr>
        <p:spPr>
          <a:xfrm>
            <a:off x="10113264" y="2561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31.0%</a:t>
            </a:r>
            <a:endParaRPr lang="en-US" sz="800" dirty="0"/>
          </a:p>
        </p:txBody>
      </p:sp>
      <p:sp>
        <p:nvSpPr>
          <p:cNvPr id="14" name="click1_8"/>
          <p:cNvSpPr txBox="1"/>
          <p:nvPr/>
        </p:nvSpPr>
        <p:spPr>
          <a:xfrm>
            <a:off x="10113264" y="2709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28.6%</a:t>
            </a:r>
            <a:endParaRPr lang="en-US" sz="800" dirty="0"/>
          </a:p>
        </p:txBody>
      </p:sp>
      <p:sp>
        <p:nvSpPr>
          <p:cNvPr id="15" name="click1_9"/>
          <p:cNvSpPr txBox="1"/>
          <p:nvPr/>
        </p:nvSpPr>
        <p:spPr>
          <a:xfrm>
            <a:off x="10113264" y="28567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17.7%</a:t>
            </a:r>
            <a:endParaRPr lang="en-US" sz="800" dirty="0"/>
          </a:p>
        </p:txBody>
      </p:sp>
      <p:sp>
        <p:nvSpPr>
          <p:cNvPr id="16" name="click1_10"/>
          <p:cNvSpPr txBox="1"/>
          <p:nvPr/>
        </p:nvSpPr>
        <p:spPr>
          <a:xfrm>
            <a:off x="10113264" y="30044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8.7%</a:t>
            </a:r>
            <a:endParaRPr lang="en-US" sz="800" dirty="0"/>
          </a:p>
        </p:txBody>
      </p:sp>
      <p:sp>
        <p:nvSpPr>
          <p:cNvPr id="17" name="click1_11"/>
          <p:cNvSpPr txBox="1"/>
          <p:nvPr/>
        </p:nvSpPr>
        <p:spPr>
          <a:xfrm>
            <a:off x="10113264" y="31520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4.7%</a:t>
            </a:r>
            <a:endParaRPr lang="en-US" sz="800" dirty="0"/>
          </a:p>
        </p:txBody>
      </p:sp>
      <p:sp>
        <p:nvSpPr>
          <p:cNvPr id="18" name="click1_12"/>
          <p:cNvSpPr txBox="1"/>
          <p:nvPr/>
        </p:nvSpPr>
        <p:spPr>
          <a:xfrm>
            <a:off x="10113264" y="32997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0.6%</a:t>
            </a:r>
            <a:endParaRPr lang="en-US" sz="800" dirty="0"/>
          </a:p>
        </p:txBody>
      </p:sp>
      <p:sp>
        <p:nvSpPr>
          <p:cNvPr id="19" name="click1_13"/>
          <p:cNvSpPr txBox="1"/>
          <p:nvPr/>
        </p:nvSpPr>
        <p:spPr>
          <a:xfrm>
            <a:off x="10113264" y="34473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0.1%</a:t>
            </a:r>
            <a:endParaRPr lang="en-US" sz="800" dirty="0"/>
          </a:p>
        </p:txBody>
      </p:sp>
      <p:sp>
        <p:nvSpPr>
          <p:cNvPr id="20" name="click1_14"/>
          <p:cNvSpPr txBox="1"/>
          <p:nvPr/>
        </p:nvSpPr>
        <p:spPr>
          <a:xfrm>
            <a:off x="10113264" y="35950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1.8%</a:t>
            </a:r>
            <a:endParaRPr lang="en-US" sz="800" dirty="0"/>
          </a:p>
        </p:txBody>
      </p:sp>
      <p:sp>
        <p:nvSpPr>
          <p:cNvPr id="21" name="click1_15"/>
          <p:cNvSpPr txBox="1"/>
          <p:nvPr/>
        </p:nvSpPr>
        <p:spPr>
          <a:xfrm>
            <a:off x="10113264" y="37426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5.5%</a:t>
            </a:r>
            <a:endParaRPr lang="en-US" sz="800" dirty="0"/>
          </a:p>
        </p:txBody>
      </p:sp>
      <p:sp>
        <p:nvSpPr>
          <p:cNvPr id="22" name="click1_16"/>
          <p:cNvSpPr txBox="1"/>
          <p:nvPr/>
        </p:nvSpPr>
        <p:spPr>
          <a:xfrm>
            <a:off x="10113264" y="38902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17.5%</a:t>
            </a:r>
            <a:endParaRPr lang="en-US" sz="800" dirty="0"/>
          </a:p>
        </p:txBody>
      </p:sp>
      <p:sp>
        <p:nvSpPr>
          <p:cNvPr id="23" name="click1_17"/>
          <p:cNvSpPr txBox="1"/>
          <p:nvPr/>
        </p:nvSpPr>
        <p:spPr>
          <a:xfrm>
            <a:off x="10113264" y="4037939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24" name="click1_18"/>
          <p:cNvSpPr txBox="1"/>
          <p:nvPr/>
        </p:nvSpPr>
        <p:spPr>
          <a:xfrm>
            <a:off x="10113264" y="41855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2.6%</a:t>
            </a:r>
            <a:endParaRPr lang="en-US" sz="800" dirty="0"/>
          </a:p>
        </p:txBody>
      </p:sp>
      <p:sp>
        <p:nvSpPr>
          <p:cNvPr id="25" name="click1_19"/>
          <p:cNvSpPr txBox="1"/>
          <p:nvPr/>
        </p:nvSpPr>
        <p:spPr>
          <a:xfrm>
            <a:off x="10113264" y="4333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26" name="click1_20"/>
          <p:cNvSpPr txBox="1"/>
          <p:nvPr/>
        </p:nvSpPr>
        <p:spPr>
          <a:xfrm>
            <a:off x="10113264" y="4480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27" name="click1_21"/>
          <p:cNvSpPr txBox="1"/>
          <p:nvPr/>
        </p:nvSpPr>
        <p:spPr>
          <a:xfrm>
            <a:off x="10113264" y="4628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0.9%</a:t>
            </a:r>
            <a:endParaRPr lang="en-US" sz="800" dirty="0"/>
          </a:p>
        </p:txBody>
      </p:sp>
      <p:sp>
        <p:nvSpPr>
          <p:cNvPr id="28" name="click1_22"/>
          <p:cNvSpPr txBox="1"/>
          <p:nvPr/>
        </p:nvSpPr>
        <p:spPr>
          <a:xfrm>
            <a:off x="10113264" y="4776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29" name="click1_23"/>
          <p:cNvSpPr txBox="1"/>
          <p:nvPr/>
        </p:nvSpPr>
        <p:spPr>
          <a:xfrm>
            <a:off x="10113264" y="4923796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30" name="click2_0"/>
          <p:cNvSpPr/>
          <p:nvPr/>
        </p:nvSpPr>
        <p:spPr>
          <a:xfrm>
            <a:off x="8813920" y="1970940"/>
            <a:ext cx="1110959" cy="3100500"/>
          </a:xfrm>
          <a:prstGeom prst="rect">
            <a:avLst/>
          </a:prstGeom>
          <a:ln w="28575">
            <a:solidFill>
              <a:srgbClr val="FF6A2B"/>
            </a:solidFill>
            <a:prstDash val="solid"/>
          </a:ln>
        </p:spPr>
      </p:sp>
      <p:sp>
        <p:nvSpPr>
          <p:cNvPr id="31" name="click2_1"/>
          <p:cNvSpPr txBox="1"/>
          <p:nvPr/>
        </p:nvSpPr>
        <p:spPr>
          <a:xfrm>
            <a:off x="8356720" y="1581912"/>
            <a:ext cx="2025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18th + 19th + 20th  →</a:t>
            </a:r>
            <a:endParaRPr lang="en-US" sz="1100" dirty="0"/>
          </a:p>
        </p:txBody>
      </p:sp>
      <p:sp>
        <p:nvSpPr>
          <p:cNvPr id="32" name="click2_2"/>
          <p:cNvSpPr/>
          <p:nvPr/>
        </p:nvSpPr>
        <p:spPr>
          <a:xfrm>
            <a:off x="10899648" y="1970940"/>
            <a:ext cx="713232" cy="3100500"/>
          </a:xfrm>
          <a:prstGeom prst="rect">
            <a:avLst/>
          </a:prstGeom>
          <a:solidFill>
            <a:srgbClr val="FDEDE3"/>
          </a:solidFill>
          <a:ln w="28575">
            <a:solidFill>
              <a:srgbClr val="FF6A2B"/>
            </a:solidFill>
            <a:prstDash val="solid"/>
          </a:ln>
        </p:spPr>
      </p:sp>
      <p:sp>
        <p:nvSpPr>
          <p:cNvPr id="33" name="click2_3"/>
          <p:cNvSpPr txBox="1"/>
          <p:nvPr/>
        </p:nvSpPr>
        <p:spPr>
          <a:xfrm>
            <a:off x="10899648" y="19709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471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BOTTOM 3</a:t>
            </a:r>
            <a:endParaRPr lang="en-US" sz="750" dirty="0"/>
          </a:p>
        </p:txBody>
      </p:sp>
      <p:sp>
        <p:nvSpPr>
          <p:cNvPr id="34" name="click2_4"/>
          <p:cNvSpPr txBox="1"/>
          <p:nvPr/>
        </p:nvSpPr>
        <p:spPr>
          <a:xfrm>
            <a:off x="10899648" y="2118583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5" name="click2_5"/>
          <p:cNvSpPr txBox="1"/>
          <p:nvPr/>
        </p:nvSpPr>
        <p:spPr>
          <a:xfrm>
            <a:off x="10899648" y="2266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6" name="click2_6"/>
          <p:cNvSpPr txBox="1"/>
          <p:nvPr/>
        </p:nvSpPr>
        <p:spPr>
          <a:xfrm>
            <a:off x="10899648" y="2413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7" name="click2_7"/>
          <p:cNvSpPr txBox="1"/>
          <p:nvPr/>
        </p:nvSpPr>
        <p:spPr>
          <a:xfrm>
            <a:off x="10899648" y="2561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0.3%</a:t>
            </a:r>
            <a:endParaRPr lang="en-US" sz="800" dirty="0"/>
          </a:p>
        </p:txBody>
      </p:sp>
      <p:sp>
        <p:nvSpPr>
          <p:cNvPr id="38" name="click2_8"/>
          <p:cNvSpPr txBox="1"/>
          <p:nvPr/>
        </p:nvSpPr>
        <p:spPr>
          <a:xfrm>
            <a:off x="10899648" y="2709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39" name="click2_9"/>
          <p:cNvSpPr txBox="1"/>
          <p:nvPr/>
        </p:nvSpPr>
        <p:spPr>
          <a:xfrm>
            <a:off x="10899648" y="28567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40" name="click2_10"/>
          <p:cNvSpPr txBox="1"/>
          <p:nvPr/>
        </p:nvSpPr>
        <p:spPr>
          <a:xfrm>
            <a:off x="10899648" y="30044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2.2%</a:t>
            </a:r>
            <a:endParaRPr lang="en-US" sz="800" dirty="0"/>
          </a:p>
        </p:txBody>
      </p:sp>
      <p:sp>
        <p:nvSpPr>
          <p:cNvPr id="41" name="click2_11"/>
          <p:cNvSpPr txBox="1"/>
          <p:nvPr/>
        </p:nvSpPr>
        <p:spPr>
          <a:xfrm>
            <a:off x="10899648" y="31520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4.4%</a:t>
            </a:r>
            <a:endParaRPr lang="en-US" sz="800" dirty="0"/>
          </a:p>
        </p:txBody>
      </p:sp>
      <p:sp>
        <p:nvSpPr>
          <p:cNvPr id="42" name="click2_12"/>
          <p:cNvSpPr txBox="1"/>
          <p:nvPr/>
        </p:nvSpPr>
        <p:spPr>
          <a:xfrm>
            <a:off x="10899648" y="32997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17.6%</a:t>
            </a:r>
            <a:endParaRPr lang="en-US" sz="800" dirty="0"/>
          </a:p>
        </p:txBody>
      </p:sp>
      <p:sp>
        <p:nvSpPr>
          <p:cNvPr id="43" name="click2_13"/>
          <p:cNvSpPr txBox="1"/>
          <p:nvPr/>
        </p:nvSpPr>
        <p:spPr>
          <a:xfrm>
            <a:off x="10899648" y="34473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33.7%</a:t>
            </a:r>
            <a:endParaRPr lang="en-US" sz="800" dirty="0"/>
          </a:p>
        </p:txBody>
      </p:sp>
      <p:sp>
        <p:nvSpPr>
          <p:cNvPr id="44" name="click2_14"/>
          <p:cNvSpPr txBox="1"/>
          <p:nvPr/>
        </p:nvSpPr>
        <p:spPr>
          <a:xfrm>
            <a:off x="10899648" y="35950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10.9%</a:t>
            </a:r>
            <a:endParaRPr lang="en-US" sz="800" dirty="0"/>
          </a:p>
        </p:txBody>
      </p:sp>
      <p:sp>
        <p:nvSpPr>
          <p:cNvPr id="45" name="click2_15"/>
          <p:cNvSpPr txBox="1"/>
          <p:nvPr/>
        </p:nvSpPr>
        <p:spPr>
          <a:xfrm>
            <a:off x="10899648" y="37426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3.9%</a:t>
            </a:r>
            <a:endParaRPr lang="en-US" sz="800" dirty="0"/>
          </a:p>
        </p:txBody>
      </p:sp>
      <p:sp>
        <p:nvSpPr>
          <p:cNvPr id="46" name="click2_16"/>
          <p:cNvSpPr txBox="1"/>
          <p:nvPr/>
        </p:nvSpPr>
        <p:spPr>
          <a:xfrm>
            <a:off x="10899648" y="38902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47" name="click2_17"/>
          <p:cNvSpPr txBox="1"/>
          <p:nvPr/>
        </p:nvSpPr>
        <p:spPr>
          <a:xfrm>
            <a:off x="10899648" y="4037939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34.1%</a:t>
            </a:r>
            <a:endParaRPr lang="en-US" sz="800" dirty="0"/>
          </a:p>
        </p:txBody>
      </p:sp>
      <p:sp>
        <p:nvSpPr>
          <p:cNvPr id="48" name="click2_18"/>
          <p:cNvSpPr txBox="1"/>
          <p:nvPr/>
        </p:nvSpPr>
        <p:spPr>
          <a:xfrm>
            <a:off x="10899648" y="41855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7.2%</a:t>
            </a:r>
            <a:endParaRPr lang="en-US" sz="800" dirty="0"/>
          </a:p>
        </p:txBody>
      </p:sp>
      <p:sp>
        <p:nvSpPr>
          <p:cNvPr id="49" name="click2_19"/>
          <p:cNvSpPr txBox="1"/>
          <p:nvPr/>
        </p:nvSpPr>
        <p:spPr>
          <a:xfrm>
            <a:off x="10899648" y="4333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72.6%</a:t>
            </a:r>
            <a:endParaRPr lang="en-US" sz="800" dirty="0"/>
          </a:p>
        </p:txBody>
      </p:sp>
      <p:sp>
        <p:nvSpPr>
          <p:cNvPr id="50" name="click2_20"/>
          <p:cNvSpPr txBox="1"/>
          <p:nvPr/>
        </p:nvSpPr>
        <p:spPr>
          <a:xfrm>
            <a:off x="10899648" y="4480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19.8%</a:t>
            </a:r>
            <a:endParaRPr lang="en-US" sz="800" dirty="0"/>
          </a:p>
        </p:txBody>
      </p:sp>
      <p:sp>
        <p:nvSpPr>
          <p:cNvPr id="51" name="click2_21"/>
          <p:cNvSpPr txBox="1"/>
          <p:nvPr/>
        </p:nvSpPr>
        <p:spPr>
          <a:xfrm>
            <a:off x="10899648" y="4628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15.5%</a:t>
            </a:r>
            <a:endParaRPr lang="en-US" sz="800" dirty="0"/>
          </a:p>
        </p:txBody>
      </p:sp>
      <p:sp>
        <p:nvSpPr>
          <p:cNvPr id="52" name="click2_22"/>
          <p:cNvSpPr txBox="1"/>
          <p:nvPr/>
        </p:nvSpPr>
        <p:spPr>
          <a:xfrm>
            <a:off x="10899648" y="4776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36.6%</a:t>
            </a:r>
            <a:endParaRPr lang="en-US" sz="800" dirty="0"/>
          </a:p>
        </p:txBody>
      </p:sp>
      <p:sp>
        <p:nvSpPr>
          <p:cNvPr id="53" name="click2_23"/>
          <p:cNvSpPr txBox="1"/>
          <p:nvPr/>
        </p:nvSpPr>
        <p:spPr>
          <a:xfrm>
            <a:off x="10899648" y="4923796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39.4%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Championship 2026/27: every team, every position</a:t>
            </a:r>
            <a:endParaRPr lang="en-US" sz="3000" dirty="0"/>
          </a:p>
        </p:txBody>
      </p:sp>
      <p:pic>
        <p:nvPicPr>
          <p:cNvPr id="4" name="Image 0" descr="Championship table from the live dashboard: each team's chance of finishing in every position">
            <a:hlinkClick r:id="rId2" tooltip="Open the live dashboard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40190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5583" y="2746883"/>
            <a:ext cx="10830354" cy="149833"/>
          </a:xfrm>
          <a:prstGeom prst="rect">
            <a:avLst/>
          </a:prstGeom>
          <a:ln w="28575">
            <a:solidFill>
              <a:srgbClr val="FF6A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756381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Straight from the live dashboard: % chance of finishing in each position, from 10,000 simulated seasons. </a:t>
            </a:r>
            <a:pPr indent="0" marL="0">
              <a:buNone/>
            </a:pPr>
            <a:r>
              <a:rPr lang="en-US" sz="11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Southampton: 7th in the table, #2 on the ratings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39319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103120"/>
                <a:gridCol w="411480"/>
                <a:gridCol w="50292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GD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  (−4)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Queens Park Rangers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Blackburn Rovers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Sheffield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Millwall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Portsmouth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Wrexham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Bolton Wanderers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Bristol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Charlton Athletic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Lincoln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Cardiff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Watford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Norwich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Derby County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Preston North End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990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Dark green: automatic promotion · lighter: play-offs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84632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7th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the table: 6W 3D 2L = 21 pts, minus 4 = 17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16280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4568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#2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34568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the ratings (attack minus defence), with the 2nd-best GD: +11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47928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6216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2nd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966216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most likely finish: 82% chance of the top six</a:t>
            </a:r>
            <a:endParaRPr lang="en-US" sz="1250" dirty="0"/>
          </a:p>
        </p:txBody>
      </p:sp>
      <p:graphicFrame>
        <p:nvGraphicFramePr>
          <p:cNvPr id="15" name="click1_0" descr=""/>
          <p:cNvGraphicFramePr/>
          <p:nvPr/>
        </p:nvGraphicFramePr>
        <p:xfrm>
          <a:off x="4754880" y="3017520"/>
          <a:ext cx="68580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click1_1"/>
          <p:cNvSpPr/>
          <p:nvPr/>
        </p:nvSpPr>
        <p:spPr>
          <a:xfrm>
            <a:off x="4846320" y="5486400"/>
            <a:ext cx="6766560" cy="777240"/>
          </a:xfrm>
          <a:prstGeom prst="roundRect">
            <a:avLst>
              <a:gd name="adj" fmla="val 14118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7" name="click1_2"/>
          <p:cNvSpPr txBox="1"/>
          <p:nvPr/>
        </p:nvSpPr>
        <p:spPr>
          <a:xfrm>
            <a:off x="5074920" y="548640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deduction costs them 17 percentage points of automatic-promotion chance: </a:t>
            </a:r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44% → 27%. The ratings ignore it; it lives in the starting table.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CHAMPIONSHIP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top of the table, 1.9% to win it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8521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94560"/>
                <a:gridCol w="502920"/>
                <a:gridCol w="594360"/>
                <a:gridCol w="1188720"/>
                <a:gridCol w="960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Title chance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2025/26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82.4%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5.7%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2A1408">
              <a:alpha val="8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037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1.9%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1st today, 11th last season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1897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82%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United: 2nd, 1 point behind, relegated from the Premier League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75120" y="3657600"/>
            <a:ext cx="489204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36576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Why?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 came down from the Premier League, and their goal difference is +18, the best in the league, against Swansea City's +8. An 11-game start can't outweigh that, and with 35 to go, 1 point is one result.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52578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story in Ligue 1: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Lyon top (9%, 4th last season), Paris Saint-Germain 2nd but 71% favourites as reigning champions.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WATCHING IT MOVE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2026/27 title race, one run per day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863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930072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 3–0 Arsenal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427936" y="2807208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City win 3–0 at Liverpool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6448596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 win 1–0 at Forest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732520" y="1645920"/>
            <a:ext cx="2880360" cy="4434840"/>
          </a:xfrm>
          <a:prstGeom prst="roundRect">
            <a:avLst>
              <a:gd name="adj" fmla="val 381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15400" y="1783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AFTER 2 GAMES → TODAY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915400" y="2194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250545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41% → </a:t>
            </a:r>
            <a:pPr indent="0" marL="0">
              <a:buNone/>
            </a:pPr>
            <a:r>
              <a:rPr lang="en-US" sz="2400" b="1" dirty="0">
                <a:solidFill>
                  <a:srgbClr val="7CC4F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59%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3154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346557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44% → </a:t>
            </a:r>
            <a:pPr indent="0" marL="0">
              <a:buNone/>
            </a:pPr>
            <a:r>
              <a:rPr lang="en-US" sz="2400" b="1" dirty="0">
                <a:solidFill>
                  <a:srgbClr val="FF5A4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35%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915400" y="4114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9154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1% → </a:t>
            </a:r>
            <a:pPr indent="0" marL="0">
              <a:buNone/>
            </a:pPr>
            <a:r>
              <a:rPr lang="en-US" sz="2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50749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Others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53858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14% → </a:t>
            </a:r>
            <a:pPr indent="0" marL="0">
              <a:buNone/>
            </a:pPr>
            <a:r>
              <a:rPr lang="en-US" sz="2400" b="1" dirty="0">
                <a:solidFill>
                  <a:srgbClr val="8B9A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1%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 · DOES IT WORK?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season, called on 9 March 2026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400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1828800"/>
                <a:gridCol w="5486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Model on 9 March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Actual finish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Arsenal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93.5% to finish 1st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1st, champions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91.4% to finish 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45.3% to finish 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77.0% to finish 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79.5% to finish 20th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006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middle was a genuine toss-up: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4th place on 9 March was Chelsea 26.3%, Aston Villa 26.0%, Man United 25.3%. Aston Villa took it: the model's second pick, well inside the spread.</a:t>
            </a:r>
            <a:endParaRPr lang="en-US" sz="1350" dirty="0"/>
          </a:p>
        </p:txBody>
      </p:sp>
      <p:sp>
        <p:nvSpPr>
          <p:cNvPr id="6" name="click1_0"/>
          <p:cNvSpPr/>
          <p:nvPr/>
        </p:nvSpPr>
        <p:spPr>
          <a:xfrm>
            <a:off x="7315200" y="164592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2A1408">
              <a:alpha val="7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7543800" y="1810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SURPRISE</a:t>
            </a:r>
            <a:endParaRPr lang="en-US" sz="1200" dirty="0"/>
          </a:p>
        </p:txBody>
      </p:sp>
      <p:sp>
        <p:nvSpPr>
          <p:cNvPr id="8" name="click1_2"/>
          <p:cNvSpPr txBox="1"/>
          <p:nvPr/>
        </p:nvSpPr>
        <p:spPr>
          <a:xfrm>
            <a:off x="7543800" y="2103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Chelsea</a:t>
            </a:r>
            <a:endParaRPr lang="en-US" sz="2400" dirty="0"/>
          </a:p>
        </p:txBody>
      </p:sp>
      <p:sp>
        <p:nvSpPr>
          <p:cNvPr id="9" name="click1_3"/>
          <p:cNvSpPr txBox="1"/>
          <p:nvPr/>
        </p:nvSpPr>
        <p:spPr>
          <a:xfrm>
            <a:off x="7543800" y="26060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97%</a:t>
            </a:r>
            <a:endParaRPr lang="en-US" sz="3800" dirty="0"/>
          </a:p>
        </p:txBody>
      </p:sp>
      <p:sp>
        <p:nvSpPr>
          <p:cNvPr id="10" name="click1_4"/>
          <p:cNvSpPr txBox="1"/>
          <p:nvPr/>
        </p:nvSpPr>
        <p:spPr>
          <a:xfrm>
            <a:off x="7543800" y="3291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chance of finishing 3rd–7th</a:t>
            </a:r>
            <a:endParaRPr lang="en-US" sz="1250" dirty="0"/>
          </a:p>
        </p:txBody>
      </p:sp>
      <p:sp>
        <p:nvSpPr>
          <p:cNvPr id="11" name="click1_5"/>
          <p:cNvSpPr txBox="1"/>
          <p:nvPr/>
        </p:nvSpPr>
        <p:spPr>
          <a:xfrm>
            <a:off x="9509760" y="2606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11th</a:t>
            </a:r>
            <a:endParaRPr lang="en-US" sz="3800" dirty="0"/>
          </a:p>
        </p:txBody>
      </p:sp>
      <p:sp>
        <p:nvSpPr>
          <p:cNvPr id="12" name="click1_6"/>
          <p:cNvSpPr txBox="1"/>
          <p:nvPr/>
        </p:nvSpPr>
        <p:spPr>
          <a:xfrm>
            <a:off x="950976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actual finish (0.07% chance)</a:t>
            </a:r>
            <a:endParaRPr lang="en-US" sz="1250" dirty="0"/>
          </a:p>
        </p:txBody>
      </p:sp>
      <p:sp>
        <p:nvSpPr>
          <p:cNvPr id="13" name="click1_7"/>
          <p:cNvSpPr txBox="1"/>
          <p:nvPr/>
        </p:nvSpPr>
        <p:spPr>
          <a:xfrm>
            <a:off x="7543800" y="406908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goals, Chelsea looked like a top-six side. The drop only showed up in the results later, which is why richer data is next on the list.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CHECKING CALIBRATION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When it says 70%, does it happen 70% of the time?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223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6459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75320" y="1691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39k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probabilities scored: 4 leagues, 239 league-days, March–May 2026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092440" y="365760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75320" y="37490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Close match. </a:t>
            </a:r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bars track each other closely: calls of 70–85% came in 81% of the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PROBLEMS I HIT IN PRODUCTION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was easy. So much went wrong running it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Source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What it calls the same club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ESPN (scraped table)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Internazionale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football-data.org (fixtures)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FC Internazionale Milano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the-odds-api (odds)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 Milan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Unmapped, one club becomes three teams, each with a third of its data. No error, no warning: just quietly wrong numbers.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18211D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4348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production, the bugs came from the data pipeline, not from the statistics.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645920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Cloud IPs get blocked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03911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ESPN's firewall served an empty challenge page to GitHub Actions but not to my laptop. Fix: a real headless browser.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2770632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28620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abbreviation with digits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163824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ESPN puts an abbreviation before each name. The clean-up expected letters only, so “S04Schalke 04” matched nothing.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895344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398678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 that never matched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4288536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name mismatch left two promoted Eredivisie sides with zero fixtures, so they sat on 100% for their current position.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63640" y="5020056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5111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Runtime creep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5413248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9th league pushed the daily job past 30 minutes. Concurrency, rate pacing, and parallel simulation got it under 3.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Where the model goes next</a:t>
            </a:r>
            <a:endParaRPr lang="en-US" sz="3000" dirty="0"/>
          </a:p>
        </p:txBody>
      </p:sp>
      <p:sp>
        <p:nvSpPr>
          <p:cNvPr id="4" name="click1_0"/>
          <p:cNvSpPr/>
          <p:nvPr/>
        </p:nvSpPr>
        <p:spPr>
          <a:xfrm>
            <a:off x="54864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click1_1"/>
          <p:cNvSpPr txBox="1"/>
          <p:nvPr/>
        </p:nvSpPr>
        <p:spPr>
          <a:xfrm>
            <a:off x="77724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a slow signal</a:t>
            </a:r>
            <a:endParaRPr lang="en-US" sz="1600" dirty="0"/>
          </a:p>
        </p:txBody>
      </p:sp>
      <p:sp>
        <p:nvSpPr>
          <p:cNvPr id="6" name="click1_2"/>
          <p:cNvSpPr txBox="1"/>
          <p:nvPr/>
        </p:nvSpPr>
        <p:spPr>
          <a:xfrm>
            <a:off x="77724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0–5 events a match. A team can play better for weeks before the scoreline shows it.</a:t>
            </a:r>
            <a:endParaRPr lang="en-US" sz="1250" dirty="0"/>
          </a:p>
        </p:txBody>
      </p:sp>
      <p:sp>
        <p:nvSpPr>
          <p:cNvPr id="7" name="click1_3"/>
          <p:cNvSpPr txBox="1"/>
          <p:nvPr/>
        </p:nvSpPr>
        <p:spPr>
          <a:xfrm>
            <a:off x="77724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Richer inputs: xG, xThreat, and tracking data like SkillCorner's (off-ball runs, pressing, physical output)</a:t>
            </a:r>
            <a:endParaRPr lang="en-US" sz="1250" dirty="0"/>
          </a:p>
        </p:txBody>
      </p:sp>
      <p:sp>
        <p:nvSpPr>
          <p:cNvPr id="8" name="click2_0"/>
          <p:cNvSpPr/>
          <p:nvPr/>
        </p:nvSpPr>
        <p:spPr>
          <a:xfrm>
            <a:off x="617220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click2_1"/>
          <p:cNvSpPr txBox="1"/>
          <p:nvPr/>
        </p:nvSpPr>
        <p:spPr>
          <a:xfrm>
            <a:off x="640080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Everything assumes ‘business as usual’</a:t>
            </a:r>
            <a:endParaRPr lang="en-US" sz="1600" dirty="0"/>
          </a:p>
        </p:txBody>
      </p:sp>
      <p:sp>
        <p:nvSpPr>
          <p:cNvPr id="10" name="click2_2"/>
          <p:cNvSpPr txBox="1"/>
          <p:nvPr/>
        </p:nvSpPr>
        <p:spPr>
          <a:xfrm>
            <a:off x="640080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new manager or a key injury shifts real strength faster than a goals rating can follow.</a:t>
            </a:r>
            <a:endParaRPr lang="en-US" sz="1250" dirty="0"/>
          </a:p>
        </p:txBody>
      </p:sp>
      <p:sp>
        <p:nvSpPr>
          <p:cNvPr id="11" name="click2_3"/>
          <p:cNvSpPr txBox="1"/>
          <p:nvPr/>
        </p:nvSpPr>
        <p:spPr>
          <a:xfrm>
            <a:off x="640080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Event flags, faster-reacting ratings, market weight that adapts</a:t>
            </a:r>
            <a:endParaRPr lang="en-US" sz="1250" dirty="0"/>
          </a:p>
        </p:txBody>
      </p:sp>
      <p:sp>
        <p:nvSpPr>
          <p:cNvPr id="12" name="click3_0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click3_1"/>
          <p:cNvSpPr txBox="1"/>
          <p:nvPr/>
        </p:nvSpPr>
        <p:spPr>
          <a:xfrm>
            <a:off x="77724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Independent goals</a:t>
            </a:r>
            <a:endParaRPr lang="en-US" sz="1600" dirty="0"/>
          </a:p>
        </p:txBody>
      </p:sp>
      <p:sp>
        <p:nvSpPr>
          <p:cNvPr id="14" name="click3_2"/>
          <p:cNvSpPr txBox="1"/>
          <p:nvPr/>
        </p:nvSpPr>
        <p:spPr>
          <a:xfrm>
            <a:off x="77724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Low scorelines (0–0, 1–1) happen a bit more often than independence predicts.</a:t>
            </a:r>
            <a:endParaRPr lang="en-US" sz="1250" dirty="0"/>
          </a:p>
        </p:txBody>
      </p:sp>
      <p:sp>
        <p:nvSpPr>
          <p:cNvPr id="15" name="click3_3"/>
          <p:cNvSpPr txBox="1"/>
          <p:nvPr/>
        </p:nvSpPr>
        <p:spPr>
          <a:xfrm>
            <a:off x="77724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Dixon–Coles low-score correction</a:t>
            </a:r>
            <a:endParaRPr lang="en-US" sz="1250" dirty="0"/>
          </a:p>
        </p:txBody>
      </p:sp>
      <p:sp>
        <p:nvSpPr>
          <p:cNvPr id="16" name="click4_0"/>
          <p:cNvSpPr/>
          <p:nvPr/>
        </p:nvSpPr>
        <p:spPr>
          <a:xfrm>
            <a:off x="617220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click4_1"/>
          <p:cNvSpPr txBox="1"/>
          <p:nvPr/>
        </p:nvSpPr>
        <p:spPr>
          <a:xfrm>
            <a:off x="640080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market only reaches priced games</a:t>
            </a:r>
            <a:endParaRPr lang="en-US" sz="1600" dirty="0"/>
          </a:p>
        </p:txBody>
      </p:sp>
      <p:sp>
        <p:nvSpPr>
          <p:cNvPr id="18" name="click4_2"/>
          <p:cNvSpPr txBox="1"/>
          <p:nvPr/>
        </p:nvSpPr>
        <p:spPr>
          <a:xfrm>
            <a:off x="640080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bookmakers know shapes only the 21 priced matches; the other 290 use the model alone.</a:t>
            </a:r>
            <a:endParaRPr lang="en-US" sz="1250" dirty="0"/>
          </a:p>
        </p:txBody>
      </p:sp>
      <p:sp>
        <p:nvSpPr>
          <p:cNvPr id="19" name="click4_3"/>
          <p:cNvSpPr txBox="1"/>
          <p:nvPr/>
        </p:nvSpPr>
        <p:spPr>
          <a:xfrm>
            <a:off x="640080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Learn team strength from the odds, so it carries into every fixture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 NOTE FOR OTHER SPORTS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the same recipe breaks for rugby</a:t>
            </a:r>
            <a:endParaRPr lang="en-US" sz="3000" dirty="0"/>
          </a:p>
        </p:txBody>
      </p:sp>
      <p:sp>
        <p:nvSpPr>
          <p:cNvPr id="4" name="click1_0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click1_1"/>
          <p:cNvSpPr txBox="1"/>
          <p:nvPr/>
        </p:nvSpPr>
        <p:spPr>
          <a:xfrm>
            <a:off x="822960" y="164592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scoring event?</a:t>
            </a:r>
            <a:endParaRPr lang="en-US" sz="1600" dirty="0"/>
          </a:p>
        </p:txBody>
      </p:sp>
      <p:sp>
        <p:nvSpPr>
          <p:cNvPr id="6" name="click1_2"/>
          <p:cNvSpPr txBox="1"/>
          <p:nvPr/>
        </p:nvSpPr>
        <p:spPr>
          <a:xfrm>
            <a:off x="4023360" y="1645920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Football: goals. Rugby: tries, conversions (conditional on a try), penalties, drop goals. Four correlated processes.</a:t>
            </a:r>
            <a:endParaRPr lang="en-US" sz="1350" dirty="0"/>
          </a:p>
        </p:txBody>
      </p:sp>
      <p:sp>
        <p:nvSpPr>
          <p:cNvPr id="7" name="click2_0"/>
          <p:cNvSpPr/>
          <p:nvPr/>
        </p:nvSpPr>
        <p:spPr>
          <a:xfrm>
            <a:off x="548640" y="2761488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click2_1"/>
          <p:cNvSpPr txBox="1"/>
          <p:nvPr/>
        </p:nvSpPr>
        <p:spPr>
          <a:xfrm>
            <a:off x="822960" y="27614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Three outcomes?</a:t>
            </a:r>
            <a:endParaRPr lang="en-US" sz="1600" dirty="0"/>
          </a:p>
        </p:txBody>
      </p:sp>
      <p:sp>
        <p:nvSpPr>
          <p:cNvPr id="9" name="click2_2"/>
          <p:cNvSpPr txBox="1"/>
          <p:nvPr/>
        </p:nvSpPr>
        <p:spPr>
          <a:xfrm>
            <a:off x="4023360" y="2761488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Bonus points (4+ tries, or losing by ≤7) turn 3 results into 20. No 7×7 grid shortcut: each match needs its own Monte Carlo layer.</a:t>
            </a:r>
            <a:endParaRPr lang="en-US" sz="1350" dirty="0"/>
          </a:p>
        </p:txBody>
      </p:sp>
      <p:sp>
        <p:nvSpPr>
          <p:cNvPr id="10" name="click3_0"/>
          <p:cNvSpPr/>
          <p:nvPr/>
        </p:nvSpPr>
        <p:spPr>
          <a:xfrm>
            <a:off x="548640" y="3877056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1" name="click3_1"/>
          <p:cNvSpPr txBox="1"/>
          <p:nvPr/>
        </p:nvSpPr>
        <p:spPr>
          <a:xfrm>
            <a:off x="822960" y="3877056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Uniform home advantage?</a:t>
            </a:r>
            <a:endParaRPr lang="en-US" sz="1600" dirty="0"/>
          </a:p>
        </p:txBody>
      </p:sp>
      <p:sp>
        <p:nvSpPr>
          <p:cNvPr id="12" name="click3_2"/>
          <p:cNvSpPr txBox="1"/>
          <p:nvPr/>
        </p:nvSpPr>
        <p:spPr>
          <a:xfrm>
            <a:off x="4023360" y="3877056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Measured on English Premiership data: +1.15 tries at home, −0.06 penalties. One constant would misapply it.</a:t>
            </a:r>
            <a:endParaRPr lang="en-US" sz="1350" dirty="0"/>
          </a:p>
        </p:txBody>
      </p:sp>
      <p:sp>
        <p:nvSpPr>
          <p:cNvPr id="13" name="click4_0"/>
          <p:cNvSpPr/>
          <p:nvPr/>
        </p:nvSpPr>
        <p:spPr>
          <a:xfrm>
            <a:off x="548640" y="4992624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click4_1"/>
          <p:cNvSpPr txBox="1"/>
          <p:nvPr/>
        </p:nvSpPr>
        <p:spPr>
          <a:xfrm>
            <a:off x="822960" y="4992624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market to lean on?</a:t>
            </a:r>
            <a:endParaRPr lang="en-US" sz="1600" dirty="0"/>
          </a:p>
        </p:txBody>
      </p:sp>
      <p:sp>
        <p:nvSpPr>
          <p:cNvPr id="15" name="click4_2"/>
          <p:cNvSpPr txBox="1"/>
          <p:nvPr/>
        </p:nvSpPr>
        <p:spPr>
          <a:xfrm>
            <a:off x="4023360" y="4992624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Thin rugby markets and no clean API: everything scraped, nothing to blend with or validate against.</a:t>
            </a:r>
            <a:endParaRPr lang="en-US" sz="1350" dirty="0"/>
          </a:p>
        </p:txBody>
      </p:sp>
      <p:sp>
        <p:nvSpPr>
          <p:cNvPr id="16" name="click4_0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answers all four favourably. That's the exception, not the rule: check these before porting the model to a new sport.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WRAPPING UP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Four things to take away</a:t>
            </a:r>
            <a:endParaRPr lang="en-US" sz="3000" dirty="0"/>
          </a:p>
        </p:txBody>
      </p:sp>
      <p:sp>
        <p:nvSpPr>
          <p:cNvPr id="4" name="click1_0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click1_1"/>
          <p:cNvSpPr txBox="1"/>
          <p:nvPr/>
        </p:nvSpPr>
        <p:spPr>
          <a:xfrm>
            <a:off x="82296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click1_2"/>
          <p:cNvSpPr txBox="1"/>
          <p:nvPr/>
        </p:nvSpPr>
        <p:spPr>
          <a:xfrm>
            <a:off x="178308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Report a distribution, never a rank</a:t>
            </a:r>
            <a:endParaRPr lang="en-US" sz="1800" dirty="0"/>
          </a:p>
        </p:txBody>
      </p:sp>
      <p:sp>
        <p:nvSpPr>
          <p:cNvPr id="7" name="click1_3"/>
          <p:cNvSpPr txBox="1"/>
          <p:nvPr/>
        </p:nvSpPr>
        <p:spPr>
          <a:xfrm>
            <a:off x="178308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single simulated season is one sample. The spread is the answer.</a:t>
            </a:r>
            <a:endParaRPr lang="en-US" sz="1350" dirty="0"/>
          </a:p>
        </p:txBody>
      </p:sp>
      <p:sp>
        <p:nvSpPr>
          <p:cNvPr id="8" name="click2_0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click2_1"/>
          <p:cNvSpPr txBox="1"/>
          <p:nvPr/>
        </p:nvSpPr>
        <p:spPr>
          <a:xfrm>
            <a:off x="644652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click2_2"/>
          <p:cNvSpPr txBox="1"/>
          <p:nvPr/>
        </p:nvSpPr>
        <p:spPr>
          <a:xfrm>
            <a:off x="740664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Simple models, done rigorously</a:t>
            </a:r>
            <a:endParaRPr lang="en-US" sz="1800" dirty="0"/>
          </a:p>
        </p:txBody>
      </p:sp>
      <p:sp>
        <p:nvSpPr>
          <p:cNvPr id="11" name="click2_3"/>
          <p:cNvSpPr txBox="1"/>
          <p:nvPr/>
        </p:nvSpPr>
        <p:spPr>
          <a:xfrm>
            <a:off x="740664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Poisson, shrinkage, and market odds: simple pieces that, combined, are reasonably well calibrated.</a:t>
            </a:r>
            <a:endParaRPr lang="en-US" sz="1350" dirty="0"/>
          </a:p>
        </p:txBody>
      </p:sp>
      <p:sp>
        <p:nvSpPr>
          <p:cNvPr id="12" name="click3_0"/>
          <p:cNvSpPr/>
          <p:nvPr/>
        </p:nvSpPr>
        <p:spPr>
          <a:xfrm>
            <a:off x="54864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click3_1"/>
          <p:cNvSpPr txBox="1"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click3_2"/>
          <p:cNvSpPr txBox="1"/>
          <p:nvPr/>
        </p:nvSpPr>
        <p:spPr>
          <a:xfrm>
            <a:off x="178308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every assumption</a:t>
            </a:r>
            <a:endParaRPr lang="en-US" sz="1800" dirty="0"/>
          </a:p>
        </p:txBody>
      </p:sp>
      <p:sp>
        <p:nvSpPr>
          <p:cNvPr id="15" name="click3_3"/>
          <p:cNvSpPr txBox="1"/>
          <p:nvPr/>
        </p:nvSpPr>
        <p:spPr>
          <a:xfrm>
            <a:off x="178308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Independence, business as usual, and tie-breaks. Re-check each before reusing the model elsewhere.</a:t>
            </a:r>
            <a:endParaRPr lang="en-US" sz="1350" dirty="0"/>
          </a:p>
        </p:txBody>
      </p:sp>
      <p:sp>
        <p:nvSpPr>
          <p:cNvPr id="16" name="click4_0"/>
          <p:cNvSpPr/>
          <p:nvPr/>
        </p:nvSpPr>
        <p:spPr>
          <a:xfrm>
            <a:off x="617220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click4_1"/>
          <p:cNvSpPr txBox="1"/>
          <p:nvPr/>
        </p:nvSpPr>
        <p:spPr>
          <a:xfrm>
            <a:off x="644652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click4_2"/>
          <p:cNvSpPr txBox="1"/>
          <p:nvPr/>
        </p:nvSpPr>
        <p:spPr>
          <a:xfrm>
            <a:off x="740664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is the easy part</a:t>
            </a:r>
            <a:endParaRPr lang="en-US" sz="1800" dirty="0"/>
          </a:p>
        </p:txBody>
      </p:sp>
      <p:sp>
        <p:nvSpPr>
          <p:cNvPr id="19" name="click4_3"/>
          <p:cNvSpPr txBox="1"/>
          <p:nvPr/>
        </p:nvSpPr>
        <p:spPr>
          <a:xfrm>
            <a:off x="740664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mapping, missing fixtures, and blocked scrapers are where the time goes.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 · Q&amp;A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86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Ask anything: the model, the code, the data sources, or how to build your own.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LET'S CONNECT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Thank you!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Connect with me on LinkedIn: I post every new model, article, and dashboard update there.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LIVE 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930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044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CODE (GITHUB)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51376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github.com/vickyfriss/football-league-predictions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6285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ARTICLES (MEDIUM)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09744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medium.com/@vickyfrissdekereki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2122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6811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linkedin.com/in/victoria-friss-de-kereki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635240" y="914400"/>
            <a:ext cx="3977640" cy="5120640"/>
          </a:xfrm>
          <a:prstGeom prst="roundRect">
            <a:avLst>
              <a:gd name="adj" fmla="val 2759"/>
            </a:avLst>
          </a:prstGeom>
          <a:solidFill>
            <a:srgbClr val="141B18">
              <a:alpha val="90000"/>
            </a:srgbClr>
          </a:solidFill>
          <a:ln w="19050">
            <a:solidFill>
              <a:srgbClr val="1F5A35"/>
            </a:solidFill>
            <a:prstDash val="solid"/>
          </a:ln>
        </p:spPr>
      </p:sp>
      <p:pic>
        <p:nvPicPr>
          <p:cNvPr id="14" name="Image 0" descr="Victoria Friss de Kerek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1143000"/>
            <a:ext cx="777240" cy="77724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23960" y="11430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Scan to connect on LinkedIn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0" y="214884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QR code linking to Victoria's LinkedIn prof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2286000"/>
            <a:ext cx="2971800" cy="29718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35240" y="5532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linkedin.com/in/victoria-friss-de-kereki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dicting match and season outcomes">
  <a:themeElements>
    <a:clrScheme name="Predicting match and season outcomes">
      <a:dk1>
        <a:srgbClr val="0B0F0D"/>
      </a:dk1>
      <a:lt1>
        <a:srgbClr val="F5F7F6"/>
      </a:lt1>
      <a:dk2>
        <a:srgbClr val="141B18"/>
      </a:dk2>
      <a:lt2>
        <a:srgbClr val="A3ADA8"/>
      </a:lt2>
      <a:accent1>
        <a:srgbClr val="3EE07A"/>
      </a:accent1>
      <a:accent2>
        <a:srgbClr val="C8FF6A"/>
      </a:accent2>
      <a:accent3>
        <a:srgbClr val="FF6A2B"/>
      </a:accent3>
      <a:accent4>
        <a:srgbClr val="7CC4F0"/>
      </a:accent4>
      <a:accent5>
        <a:srgbClr val="FF5A4E"/>
      </a:accent5>
      <a:accent6>
        <a:srgbClr val="6B756F"/>
      </a:accent6>
      <a:hlink>
        <a:srgbClr val="3EE07A"/>
      </a:hlink>
      <a:folHlink>
        <a:srgbClr val="C8FF6A"/>
      </a:folHlink>
    </a:clrScheme>
    <a:fontScheme name="Predicting match and season outcomes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match and season outcomes</dc:title>
  <dc:subject>PptxGenJS Presentation</dc:subject>
  <dc:creator>Victoria Friss de Kereki</dc:creator>
  <cp:lastModifiedBy>Victoria Friss de Kereki</cp:lastModifiedBy>
  <cp:revision>1</cp:revision>
  <dcterms:created xsi:type="dcterms:W3CDTF">2026-10-19T16:22:21Z</dcterms:created>
  <dcterms:modified xsi:type="dcterms:W3CDTF">2026-10-19T16:22:21Z</dcterms:modified>
</cp:coreProperties>
</file>