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4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charts/chart6.xml" ContentType="application/vnd.openxmlformats-officedocument.drawingml.chart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7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8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4062cdb-2ef2-c0d1-908e-0c323cc77ef0}">
          <p14:sldIdLst>
            <p14:sldId id="256"/>
            <p14:sldId id="257"/>
            <p14:sldId id="258"/>
          </p14:sldIdLst>
        </p14:section>
        <p14:section name="01 The idea" id="{f2c242a0-d20b-169e-18a4-9e6fe04ef3dd}">
          <p14:sldIdLst>
            <p14:sldId id="259"/>
          </p14:sldIdLst>
        </p14:section>
        <p14:section name="02 Building the model" id="{ea2844d3-d1d2-92ec-d758-2276cb08a477}">
          <p14:sldIdLst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03 Simulating the season" id="{2c1938e9-ead1-8c82-5fd7-7e5993d84041}">
          <p14:sldIdLst>
            <p14:sldId id="268"/>
            <p14:sldId id="269"/>
            <p14:sldId id="270"/>
            <p14:sldId id="271"/>
            <p14:sldId id="272"/>
            <p14:sldId id="273"/>
          </p14:sldIdLst>
        </p14:section>
        <p14:section name="04 Does it work?" id="{7a645d07-228d-81a0-e60b-48a1c0185560}">
          <p14:sldIdLst>
            <p14:sldId id="274"/>
            <p14:sldId id="275"/>
            <p14:sldId id="276"/>
            <p14:sldId id="277"/>
            <p14:sldId id="278"/>
            <p14:sldId id="279"/>
          </p14:sldIdLst>
        </p14:section>
        <p14:section name="Q&amp;A" id="{da740263-73ef-0ae5-11d6-98fdd6da6cff}">
          <p14:sldIdLst>
            <p14:sldId id="280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A3ADA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A3ADA8"/>
                </a:solidFill>
                <a:latin typeface="+mn-lt"/>
              </a:rPr>
              <a:t>P(win the Premier League), as of 19 October 2026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P(finish 1st)</c:v>
                </c:pt>
              </c:strCache>
            </c:strRef>
          </c:tx>
          <c:spPr>
            <a:solidFill>
              <a:srgbClr val="3EE07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Man City</c:v>
                  </c:pt>
                  <c:pt idx="1">
                    <c:v>Arsenal</c:v>
                  </c:pt>
                  <c:pt idx="2">
                    <c:v>Brighton</c:v>
                  </c:pt>
                  <c:pt idx="3">
                    <c:v>Chelsea</c:v>
                  </c:pt>
                  <c:pt idx="4">
                    <c:v>Liverpool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59.1</c:v>
                </c:pt>
                <c:pt idx="1">
                  <c:v>34.9</c:v>
                </c:pt>
                <c:pt idx="2">
                  <c:v>5.3</c:v>
                </c:pt>
                <c:pt idx="3">
                  <c:v>0.3</c:v>
                </c:pt>
                <c:pt idx="4">
                  <c:v>0.2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300" u="none">
                  <a:solidFill>
                    <a:srgbClr val="F5F7F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0D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B0F0D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A3ADA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A3ADA8"/>
                </a:solidFill>
                <a:latin typeface="+mn-lt"/>
              </a:rPr>
              <a:t>Probability of scoring k goals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Aston Villa (λ = 1.47)</c:v>
                </c:pt>
              </c:strCache>
            </c:strRef>
          </c:tx>
          <c:spPr>
            <a:solidFill>
              <a:srgbClr val="8B9A9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23</c:v>
                </c:pt>
                <c:pt idx="1">
                  <c:v>33.8</c:v>
                </c:pt>
                <c:pt idx="2">
                  <c:v>24.8</c:v>
                </c:pt>
                <c:pt idx="3">
                  <c:v>12.2</c:v>
                </c:pt>
                <c:pt idx="4">
                  <c:v>4.5</c:v>
                </c:pt>
                <c:pt idx="5">
                  <c:v>1.3</c:v>
                </c:pt>
                <c:pt idx="6">
                  <c:v>0.3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Manchester City (λ = 1.9)</c:v>
                </c:pt>
              </c:strCache>
            </c:strRef>
          </c:tx>
          <c:spPr>
            <a:solidFill>
              <a:srgbClr val="7CC4F0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  <c:pt idx="6">
                    <c:v>6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</c:v>
                </c:pt>
                <c:pt idx="1">
                  <c:v>28.4</c:v>
                </c:pt>
                <c:pt idx="2">
                  <c:v>27</c:v>
                </c:pt>
                <c:pt idx="3">
                  <c:v>17.1</c:v>
                </c:pt>
                <c:pt idx="4">
                  <c:v>8.1</c:v>
                </c:pt>
                <c:pt idx="5">
                  <c:v>3.1</c:v>
                </c:pt>
                <c:pt idx="6">
                  <c:v>1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5F7F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A3ADA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A3ADA8"/>
                    </a:solidFill>
                    <a:latin typeface="Arial"/>
                  </a:rPr>
                  <a:t>goals scored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0D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A3ADA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0B0F0D">
        <a:alpha val="0"/>
      </a:srgbClr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A3ADA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A3ADA8"/>
                </a:solidFill>
                <a:latin typeface="+mn-lt"/>
              </a:rPr>
              <a:t>How much of the raw rating we keep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"/>
          <c:y val="0.13"/>
          <c:w val="0.86"/>
          <c:h val="0.6"/>
        </c:manualLayout>
      </c:layout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established teams</c:v>
                </c:pt>
              </c:strCache>
            </c:strRef>
          </c:tx>
          <c:spPr>
            <a:solidFill>
              <a:srgbClr val="3EE07A"/>
            </a:solidFill>
            <a:ln w="38100" cap="flat">
              <a:solidFill>
                <a:srgbClr val="3EE07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3EE07A"/>
              </a:solidFill>
              <a:ln w="9525" cap="flat">
                <a:solidFill>
                  <a:srgbClr val="3EE07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19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29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>38</c:v>
                  </c:pt>
                </c:lvl>
              </c:multiLvlStrCache>
            </c:multiLvlStrRef>
          </c:cat>
          <c:val>
            <c:numRef>
              <c:f>Sheet1!$B$2:$B$40</c:f>
              <c:numCache>
                <c:formatCode>General</c:formatCode>
                <c:ptCount val="39"/>
                <c:pt idx="0">
                  <c:v>50</c:v>
                </c:pt>
                <c:pt idx="1">
                  <c:v>52.6</c:v>
                </c:pt>
                <c:pt idx="2">
                  <c:v>55.3</c:v>
                </c:pt>
                <c:pt idx="3">
                  <c:v>57.9</c:v>
                </c:pt>
                <c:pt idx="4">
                  <c:v>60.5</c:v>
                </c:pt>
                <c:pt idx="5">
                  <c:v>63.2</c:v>
                </c:pt>
                <c:pt idx="6">
                  <c:v>65.8</c:v>
                </c:pt>
                <c:pt idx="7">
                  <c:v>68.4</c:v>
                </c:pt>
                <c:pt idx="8">
                  <c:v>71.1</c:v>
                </c:pt>
                <c:pt idx="9">
                  <c:v>73.7</c:v>
                </c:pt>
                <c:pt idx="10">
                  <c:v>76.3</c:v>
                </c:pt>
                <c:pt idx="11">
                  <c:v>78.9</c:v>
                </c:pt>
                <c:pt idx="12">
                  <c:v>81.6</c:v>
                </c:pt>
                <c:pt idx="13">
                  <c:v>84.2</c:v>
                </c:pt>
                <c:pt idx="14">
                  <c:v>86.8</c:v>
                </c:pt>
                <c:pt idx="15">
                  <c:v>89.5</c:v>
                </c:pt>
                <c:pt idx="16">
                  <c:v>92.1</c:v>
                </c:pt>
                <c:pt idx="17">
                  <c:v>94.7</c:v>
                </c:pt>
                <c:pt idx="18">
                  <c:v>97.4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promoted / relegated</c:v>
                </c:pt>
              </c:strCache>
            </c:strRef>
          </c:tx>
          <c:spPr>
            <a:solidFill>
              <a:srgbClr val="FF6A2B"/>
            </a:solidFill>
            <a:ln w="38100" cap="flat">
              <a:solidFill>
                <a:srgbClr val="FF6A2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6A2B"/>
              </a:solidFill>
              <a:ln w="9525" cap="flat">
                <a:solidFill>
                  <a:srgbClr val="FF6A2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Sheet1!$A$2:$A$40</c:f>
              <c:multiLvlStrCache>
                <c:ptCount val="39"/>
                <c:lvl>
                  <c:pt idx="0">
                    <c:v>0</c:v>
                  </c:pt>
                  <c:pt idx="1">
                    <c:v/>
                  </c:pt>
                  <c:pt idx="2">
                    <c:v/>
                  </c:pt>
                  <c:pt idx="3">
                    <c:v/>
                  </c:pt>
                  <c:pt idx="4">
                    <c:v/>
                  </c:pt>
                  <c:pt idx="5">
                    <c:v/>
                  </c:pt>
                  <c:pt idx="6">
                    <c:v/>
                  </c:pt>
                  <c:pt idx="7">
                    <c:v/>
                  </c:pt>
                  <c:pt idx="8">
                    <c:v/>
                  </c:pt>
                  <c:pt idx="9">
                    <c:v/>
                  </c:pt>
                  <c:pt idx="10">
                    <c:v>10</c:v>
                  </c:pt>
                  <c:pt idx="11">
                    <c:v/>
                  </c:pt>
                  <c:pt idx="12">
                    <c:v/>
                  </c:pt>
                  <c:pt idx="13">
                    <c:v/>
                  </c:pt>
                  <c:pt idx="14">
                    <c:v/>
                  </c:pt>
                  <c:pt idx="15">
                    <c:v/>
                  </c:pt>
                  <c:pt idx="16">
                    <c:v/>
                  </c:pt>
                  <c:pt idx="17">
                    <c:v/>
                  </c:pt>
                  <c:pt idx="18">
                    <c:v/>
                  </c:pt>
                  <c:pt idx="19">
                    <c:v>19</c:v>
                  </c:pt>
                  <c:pt idx="20">
                    <c:v/>
                  </c:pt>
                  <c:pt idx="21">
                    <c:v/>
                  </c:pt>
                  <c:pt idx="22">
                    <c:v/>
                  </c:pt>
                  <c:pt idx="23">
                    <c:v/>
                  </c:pt>
                  <c:pt idx="24">
                    <c:v/>
                  </c:pt>
                  <c:pt idx="25">
                    <c:v/>
                  </c:pt>
                  <c:pt idx="26">
                    <c:v/>
                  </c:pt>
                  <c:pt idx="27">
                    <c:v/>
                  </c:pt>
                  <c:pt idx="28">
                    <c:v/>
                  </c:pt>
                  <c:pt idx="29">
                    <c:v>29</c:v>
                  </c:pt>
                  <c:pt idx="30">
                    <c:v/>
                  </c:pt>
                  <c:pt idx="31">
                    <c:v/>
                  </c:pt>
                  <c:pt idx="32">
                    <c:v/>
                  </c:pt>
                  <c:pt idx="33">
                    <c:v/>
                  </c:pt>
                  <c:pt idx="34">
                    <c:v/>
                  </c:pt>
                  <c:pt idx="35">
                    <c:v/>
                  </c:pt>
                  <c:pt idx="36">
                    <c:v/>
                  </c:pt>
                  <c:pt idx="37">
                    <c:v/>
                  </c:pt>
                  <c:pt idx="38">
                    <c:v>38</c:v>
                  </c:pt>
                </c:lvl>
              </c:multiLvlStrCache>
            </c:multiLvlStrRef>
          </c:cat>
          <c:val>
            <c:numRef>
              <c:f>Sheet1!$C$2:$C$40</c:f>
              <c:numCache>
                <c:formatCode>General</c:formatCode>
                <c:ptCount val="39"/>
                <c:pt idx="0">
                  <c:v>10</c:v>
                </c:pt>
                <c:pt idx="1">
                  <c:v>14.7</c:v>
                </c:pt>
                <c:pt idx="2">
                  <c:v>19.5</c:v>
                </c:pt>
                <c:pt idx="3">
                  <c:v>24.2</c:v>
                </c:pt>
                <c:pt idx="4">
                  <c:v>28.9</c:v>
                </c:pt>
                <c:pt idx="5">
                  <c:v>33.7</c:v>
                </c:pt>
                <c:pt idx="6">
                  <c:v>38.4</c:v>
                </c:pt>
                <c:pt idx="7">
                  <c:v>43.2</c:v>
                </c:pt>
                <c:pt idx="8">
                  <c:v>47.9</c:v>
                </c:pt>
                <c:pt idx="9">
                  <c:v>52.6</c:v>
                </c:pt>
                <c:pt idx="10">
                  <c:v>57.4</c:v>
                </c:pt>
                <c:pt idx="11">
                  <c:v>62.1</c:v>
                </c:pt>
                <c:pt idx="12">
                  <c:v>66.8</c:v>
                </c:pt>
                <c:pt idx="13">
                  <c:v>71.6</c:v>
                </c:pt>
                <c:pt idx="14">
                  <c:v>76.3</c:v>
                </c:pt>
                <c:pt idx="15">
                  <c:v>81.1</c:v>
                </c:pt>
                <c:pt idx="16">
                  <c:v>85.8</c:v>
                </c:pt>
                <c:pt idx="17">
                  <c:v>90.5</c:v>
                </c:pt>
                <c:pt idx="18">
                  <c:v>95.3</c:v>
                </c:pt>
                <c:pt idx="19">
                  <c:v>100</c:v>
                </c:pt>
                <c:pt idx="20">
                  <c:v>100</c:v>
                </c:pt>
                <c:pt idx="21">
                  <c:v>100</c:v>
                </c:pt>
                <c:pt idx="22">
                  <c:v>100</c:v>
                </c:pt>
                <c:pt idx="23">
                  <c:v>100</c:v>
                </c:pt>
                <c:pt idx="24">
                  <c:v>100</c:v>
                </c:pt>
                <c:pt idx="25">
                  <c:v>100</c:v>
                </c:pt>
                <c:pt idx="26">
                  <c:v>100</c:v>
                </c:pt>
                <c:pt idx="27">
                  <c:v>100</c:v>
                </c:pt>
                <c:pt idx="28">
                  <c:v>100</c:v>
                </c:pt>
                <c:pt idx="29">
                  <c:v>100</c:v>
                </c:pt>
                <c:pt idx="30">
                  <c:v>100</c:v>
                </c:pt>
                <c:pt idx="31">
                  <c:v>100</c:v>
                </c:pt>
                <c:pt idx="32">
                  <c:v>100</c:v>
                </c:pt>
                <c:pt idx="33">
                  <c:v>100</c:v>
                </c:pt>
                <c:pt idx="34">
                  <c:v>100</c:v>
                </c:pt>
                <c:pt idx="35">
                  <c:v>100</c:v>
                </c:pt>
                <c:pt idx="36">
                  <c:v>100</c:v>
                </c:pt>
                <c:pt idx="37">
                  <c:v>100</c:v>
                </c:pt>
                <c:pt idx="38">
                  <c:v>100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6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A3ADA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A3ADA8"/>
                    </a:solidFill>
                    <a:latin typeface="Arial"/>
                  </a:rPr>
                  <a:t>matches played this season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26302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0D">
            <a:alpha val="0"/>
          </a:srgbClr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A3ADA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0B0F0D">
        <a:alpha val="0"/>
      </a:srgbClr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A3ADA8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A3ADA8"/>
                </a:solidFill>
                <a:latin typeface="+mn-lt"/>
              </a:rPr>
              <a:t>Aston Villa v Manchester City: who wins?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Our model</c:v>
                </c:pt>
              </c:strCache>
            </c:strRef>
          </c:tx>
          <c:spPr>
            <a:solidFill>
              <a:srgbClr val="3EE07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Villa win</c:v>
                  </c:pt>
                  <c:pt idx="1">
                    <c:v>Draw</c:v>
                  </c:pt>
                  <c:pt idx="2">
                    <c:v>Man City win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29.9</c:v>
                </c:pt>
                <c:pt idx="1">
                  <c:v>22.3</c:v>
                </c:pt>
                <c:pt idx="2">
                  <c:v>47.7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Bookmakers</c:v>
                </c:pt>
              </c:strCache>
            </c:strRef>
          </c:tx>
          <c:spPr>
            <a:solidFill>
              <a:srgbClr val="8B9A9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Villa win</c:v>
                  </c:pt>
                  <c:pt idx="1">
                    <c:v>Draw</c:v>
                  </c:pt>
                  <c:pt idx="2">
                    <c:v>Man City win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21.8</c:v>
                </c:pt>
                <c:pt idx="1">
                  <c:v>23</c:v>
                </c:pt>
                <c:pt idx="2">
                  <c:v>55.2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F5F7F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F5F7F6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0D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A3ADA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0B0F0D">
        <a:alpha val="0"/>
      </a:srgbClr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3ADA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3ADA8"/>
                </a:solidFill>
                <a:latin typeface="+mn-lt"/>
              </a:rPr>
              <a:t>How stable is P(Man City 1st)?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spread of the estimate (± pp)</c:v>
                </c:pt>
              </c:strCache>
            </c:strRef>
          </c:tx>
          <c:spPr>
            <a:solidFill>
              <a:srgbClr val="C8FF6A"/>
            </a:solidFill>
            <a:ln w="38100" cap="flat">
              <a:solidFill>
                <a:srgbClr val="C8FF6A"/>
              </a:solidFill>
              <a:prstDash val="solid"/>
              <a:round/>
            </a:ln>
            <a:effectLst/>
          </c:spPr>
          <c:invertIfNegative val="0"/>
          <c:dLbls>
            <c:numFmt formatCode="&quot;±&quot;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C8FF6A"/>
              </a:solidFill>
              <a:ln w="9525" cap="flat">
                <a:solidFill>
                  <a:srgbClr val="C8FF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100</c:v>
                  </c:pt>
                  <c:pt idx="1">
                    <c:v>300</c:v>
                  </c:pt>
                  <c:pt idx="2">
                    <c:v>1,000</c:v>
                  </c:pt>
                  <c:pt idx="3">
                    <c:v>3,000</c:v>
                  </c:pt>
                  <c:pt idx="4">
                    <c:v>10,000</c:v>
                  </c:pt>
                  <c:pt idx="5">
                    <c:v>30,000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5.92</c:v>
                </c:pt>
                <c:pt idx="1">
                  <c:v>2.88</c:v>
                </c:pt>
                <c:pt idx="2">
                  <c:v>1.64</c:v>
                </c:pt>
                <c:pt idx="3">
                  <c:v>0.62</c:v>
                </c:pt>
                <c:pt idx="4">
                  <c:v>0.57</c:v>
                </c:pt>
                <c:pt idx="5">
                  <c:v>0.29</c:v>
                </c:pt>
              </c:numCache>
            </c:numRef>
          </c:val>
          <c:smooth val="0"/>
        </c:ser>
        <c:dLbls>
          <c:numFmt formatCode="&quot;±&quot;0.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6"/>
                  </a:solidFill>
                  <a:latin typeface="+mn-lt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A3ADA8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A3ADA8"/>
                    </a:solidFill>
                    <a:latin typeface="Arial"/>
                  </a:rPr>
                  <a:t>simulated seasons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0D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solidFill>
      <a:srgbClr val="0B0F0D">
        <a:alpha val="0"/>
      </a:srgbClr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3ADA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3ADA8"/>
                </a:solidFill>
                <a:latin typeface="+mn-lt"/>
              </a:rPr>
              <a:t>Southampton: chance of each final position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As it stands (−4)</c:v>
                </c:pt>
              </c:strCache>
            </c:strRef>
          </c:tx>
          <c:spPr>
            <a:solidFill>
              <a:srgbClr val="FF6A2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1st</c:v>
                  </c:pt>
                  <c:pt idx="1">
                    <c:v>2nd</c:v>
                  </c:pt>
                  <c:pt idx="2">
                    <c:v>3rd</c:v>
                  </c:pt>
                  <c:pt idx="3">
                    <c:v>4th</c:v>
                  </c:pt>
                  <c:pt idx="4">
                    <c:v>5th</c:v>
                  </c:pt>
                  <c:pt idx="5">
                    <c:v>6th</c:v>
                  </c:pt>
                  <c:pt idx="6">
                    <c:v>7th</c:v>
                  </c:pt>
                  <c:pt idx="7">
                    <c:v>8th</c:v>
                  </c:pt>
                  <c:pt idx="8">
                    <c:v>9th</c:v>
                  </c:pt>
                  <c:pt idx="9">
                    <c:v>10th</c:v>
                  </c:pt>
                  <c:pt idx="10">
                    <c:v>11th</c:v>
                  </c:pt>
                  <c:pt idx="11">
                    <c:v>12th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22.4</c:v>
                </c:pt>
                <c:pt idx="2">
                  <c:v>20.3</c:v>
                </c:pt>
                <c:pt idx="3">
                  <c:v>15.7</c:v>
                </c:pt>
                <c:pt idx="4">
                  <c:v>11</c:v>
                </c:pt>
                <c:pt idx="5">
                  <c:v>7.9</c:v>
                </c:pt>
                <c:pt idx="6">
                  <c:v>5.8</c:v>
                </c:pt>
                <c:pt idx="7">
                  <c:v>3.9</c:v>
                </c:pt>
                <c:pt idx="8">
                  <c:v>2.6</c:v>
                </c:pt>
                <c:pt idx="9">
                  <c:v>1.8</c:v>
                </c:pt>
                <c:pt idx="10">
                  <c:v>1.3</c:v>
                </c:pt>
                <c:pt idx="11">
                  <c:v>0.8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Without the deduction</c:v>
                </c:pt>
              </c:strCache>
            </c:strRef>
          </c:tx>
          <c:spPr>
            <a:solidFill>
              <a:srgbClr val="5A6B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1st</c:v>
                  </c:pt>
                  <c:pt idx="1">
                    <c:v>2nd</c:v>
                  </c:pt>
                  <c:pt idx="2">
                    <c:v>3rd</c:v>
                  </c:pt>
                  <c:pt idx="3">
                    <c:v>4th</c:v>
                  </c:pt>
                  <c:pt idx="4">
                    <c:v>5th</c:v>
                  </c:pt>
                  <c:pt idx="5">
                    <c:v>6th</c:v>
                  </c:pt>
                  <c:pt idx="6">
                    <c:v>7th</c:v>
                  </c:pt>
                  <c:pt idx="7">
                    <c:v>8th</c:v>
                  </c:pt>
                  <c:pt idx="8">
                    <c:v>9th</c:v>
                  </c:pt>
                  <c:pt idx="9">
                    <c:v>10th</c:v>
                  </c:pt>
                  <c:pt idx="10">
                    <c:v>11th</c:v>
                  </c:pt>
                  <c:pt idx="11">
                    <c:v>12th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10.1</c:v>
                </c:pt>
                <c:pt idx="1">
                  <c:v>33.8</c:v>
                </c:pt>
                <c:pt idx="2">
                  <c:v>21.5</c:v>
                </c:pt>
                <c:pt idx="3">
                  <c:v>13.5</c:v>
                </c:pt>
                <c:pt idx="4">
                  <c:v>8.1</c:v>
                </c:pt>
                <c:pt idx="5">
                  <c:v>5</c:v>
                </c:pt>
                <c:pt idx="6">
                  <c:v>3.3</c:v>
                </c:pt>
                <c:pt idx="7">
                  <c:v>1.7</c:v>
                </c:pt>
                <c:pt idx="8">
                  <c:v>1.3</c:v>
                </c:pt>
                <c:pt idx="9">
                  <c:v>0.7</c:v>
                </c:pt>
                <c:pt idx="10">
                  <c:v>0.5</c:v>
                </c:pt>
                <c:pt idx="11">
                  <c:v>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6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26302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solidFill>
          <a:srgbClr val="0B0F0D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A3ADA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0B0F0D">
        <a:alpha val="0"/>
      </a:srgbClr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3ADA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3ADA8"/>
                </a:solidFill>
                <a:latin typeface="+mn-lt"/>
              </a:rPr>
              <a:t>P(finish 1st), one production run per day, from 2 games in to 7</a:t>
            </a:r>
          </a:p>
        </c:rich>
      </c:tx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08"/>
          <c:y val="0.2"/>
          <c:w val="0.89"/>
          <c:h val="0.6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key moment</c:v>
                </c:pt>
              </c:strCache>
            </c:strRef>
          </c:tx>
          <c:spPr>
            <a:solidFill>
              <a:srgbClr val="3A47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Sheet1!$A$2:$A$49</c:f>
              <c:multiLvlStrCache>
                <c:ptCount val="48"/>
                <c:lvl>
                  <c:pt idx="0">
                    <c:v>2 Sep</c:v>
                  </c:pt>
                  <c:pt idx="1">
                    <c:v>3 Sep</c:v>
                  </c:pt>
                  <c:pt idx="2">
                    <c:v>4 Sep</c:v>
                  </c:pt>
                  <c:pt idx="3">
                    <c:v>5 Sep</c:v>
                  </c:pt>
                  <c:pt idx="4">
                    <c:v>6 Sep</c:v>
                  </c:pt>
                  <c:pt idx="5">
                    <c:v>7 Sep</c:v>
                  </c:pt>
                  <c:pt idx="6">
                    <c:v>8 Sep</c:v>
                  </c:pt>
                  <c:pt idx="7">
                    <c:v>9 Sep</c:v>
                  </c:pt>
                  <c:pt idx="8">
                    <c:v>10 Sep</c:v>
                  </c:pt>
                  <c:pt idx="9">
                    <c:v>11 Sep</c:v>
                  </c:pt>
                  <c:pt idx="10">
                    <c:v>12 Sep</c:v>
                  </c:pt>
                  <c:pt idx="11">
                    <c:v>13 Sep</c:v>
                  </c:pt>
                  <c:pt idx="12">
                    <c:v>14 Sep</c:v>
                  </c:pt>
                  <c:pt idx="13">
                    <c:v>15 Sep</c:v>
                  </c:pt>
                  <c:pt idx="14">
                    <c:v>16 Sep</c:v>
                  </c:pt>
                  <c:pt idx="15">
                    <c:v>17 Sep</c:v>
                  </c:pt>
                  <c:pt idx="16">
                    <c:v>18 Sep</c:v>
                  </c:pt>
                  <c:pt idx="17">
                    <c:v>19 Sep</c:v>
                  </c:pt>
                  <c:pt idx="18">
                    <c:v>20 Sep</c:v>
                  </c:pt>
                  <c:pt idx="19">
                    <c:v>21 Sep</c:v>
                  </c:pt>
                  <c:pt idx="20">
                    <c:v>22 Sep</c:v>
                  </c:pt>
                  <c:pt idx="21">
                    <c:v>23 Sep</c:v>
                  </c:pt>
                  <c:pt idx="22">
                    <c:v>24 Sep</c:v>
                  </c:pt>
                  <c:pt idx="23">
                    <c:v>25 Sep</c:v>
                  </c:pt>
                  <c:pt idx="24">
                    <c:v>26 Sep</c:v>
                  </c:pt>
                  <c:pt idx="25">
                    <c:v>27 Sep</c:v>
                  </c:pt>
                  <c:pt idx="26">
                    <c:v>28 Sep</c:v>
                  </c:pt>
                  <c:pt idx="27">
                    <c:v>29 Sep</c:v>
                  </c:pt>
                  <c:pt idx="28">
                    <c:v>30 Sep</c:v>
                  </c:pt>
                  <c:pt idx="29">
                    <c:v>1 Oct</c:v>
                  </c:pt>
                  <c:pt idx="30">
                    <c:v>2 Oct</c:v>
                  </c:pt>
                  <c:pt idx="31">
                    <c:v>3 Oct</c:v>
                  </c:pt>
                  <c:pt idx="32">
                    <c:v>4 Oct</c:v>
                  </c:pt>
                  <c:pt idx="33">
                    <c:v>5 Oct</c:v>
                  </c:pt>
                  <c:pt idx="34">
                    <c:v>6 Oct</c:v>
                  </c:pt>
                  <c:pt idx="35">
                    <c:v>7 Oct</c:v>
                  </c:pt>
                  <c:pt idx="36">
                    <c:v>8 Oct</c:v>
                  </c:pt>
                  <c:pt idx="37">
                    <c:v>9 Oct</c:v>
                  </c:pt>
                  <c:pt idx="38">
                    <c:v>10 Oct</c:v>
                  </c:pt>
                  <c:pt idx="39">
                    <c:v>11 Oct</c:v>
                  </c:pt>
                  <c:pt idx="40">
                    <c:v>12 Oct</c:v>
                  </c:pt>
                  <c:pt idx="41">
                    <c:v>13 Oct</c:v>
                  </c:pt>
                  <c:pt idx="42">
                    <c:v>14 Oct</c:v>
                  </c:pt>
                  <c:pt idx="43">
                    <c:v>15 Oct</c:v>
                  </c:pt>
                  <c:pt idx="44">
                    <c:v>16 Oct</c:v>
                  </c:pt>
                  <c:pt idx="45">
                    <c:v>17 Oct</c:v>
                  </c:pt>
                  <c:pt idx="46">
                    <c:v>18 Oct</c:v>
                  </c:pt>
                  <c:pt idx="47">
                    <c:v>19 Oct</c:v>
                  </c:pt>
                </c:lvl>
              </c:multiLvlStrCache>
            </c:multiLvlStrRef>
          </c:cat>
          <c:val>
            <c:numRef>
              <c:f>Sheet1!$B$2:$B$49</c:f>
              <c:numCache>
                <c:formatCode>General</c:formatCode>
                <c:ptCount val="48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100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  <c:pt idx="25">
                  <c:v>0</c:v>
                </c:pt>
                <c:pt idx="26">
                  <c:v>0</c:v>
                </c:pt>
                <c:pt idx="27">
                  <c:v>0</c:v>
                </c:pt>
                <c:pt idx="28">
                  <c:v>0</c:v>
                </c:pt>
                <c:pt idx="29">
                  <c:v>0</c:v>
                </c:pt>
                <c:pt idx="30">
                  <c:v>0</c:v>
                </c:pt>
                <c:pt idx="31">
                  <c:v>0</c:v>
                </c:pt>
                <c:pt idx="32">
                  <c:v>0</c:v>
                </c:pt>
                <c:pt idx="33">
                  <c:v>0</c:v>
                </c:pt>
                <c:pt idx="34">
                  <c:v>0</c:v>
                </c:pt>
                <c:pt idx="35">
                  <c:v>0</c:v>
                </c:pt>
                <c:pt idx="36">
                  <c:v>0</c:v>
                </c:pt>
                <c:pt idx="37">
                  <c:v>0</c:v>
                </c:pt>
                <c:pt idx="38">
                  <c:v>0</c:v>
                </c:pt>
                <c:pt idx="39">
                  <c:v>0</c:v>
                </c:pt>
                <c:pt idx="40">
                  <c:v>100</c:v>
                </c:pt>
                <c:pt idx="41">
                  <c:v>0</c:v>
                </c:pt>
                <c:pt idx="42">
                  <c:v>0</c:v>
                </c:pt>
                <c:pt idx="43">
                  <c:v>0</c:v>
                </c:pt>
                <c:pt idx="44">
                  <c:v>0</c:v>
                </c:pt>
                <c:pt idx="45">
                  <c:v>0</c:v>
                </c:pt>
                <c:pt idx="46">
                  <c:v>0</c:v>
                </c:pt>
                <c:pt idx="47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6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300"/>
        <c:overlap val="0"/>
        <c:axId val="2094734554"/>
        <c:axId val="2094734552"/>
        <c:axId val="2094734556"/>
      </c:barChart>
      <c:lineChart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Man City</c:v>
                </c:pt>
              </c:strCache>
            </c:strRef>
          </c:tx>
          <c:spPr>
            <a:solidFill>
              <a:srgbClr val="7CC4F0"/>
            </a:solidFill>
            <a:ln w="31750" cap="flat">
              <a:solidFill>
                <a:srgbClr val="7CC4F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5A4E"/>
              </a:solidFill>
              <a:ln w="9525" cap="flat">
                <a:solidFill>
                  <a:srgbClr val="7CC4F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2 Sep</c:v>
                  </c:pt>
                  <c:pt idx="1">
                    <c:v>3 Sep</c:v>
                  </c:pt>
                  <c:pt idx="2">
                    <c:v>4 Sep</c:v>
                  </c:pt>
                  <c:pt idx="3">
                    <c:v>5 Sep</c:v>
                  </c:pt>
                  <c:pt idx="4">
                    <c:v>6 Sep</c:v>
                  </c:pt>
                  <c:pt idx="5">
                    <c:v>7 Sep</c:v>
                  </c:pt>
                  <c:pt idx="6">
                    <c:v>8 Sep</c:v>
                  </c:pt>
                  <c:pt idx="7">
                    <c:v>9 Sep</c:v>
                  </c:pt>
                  <c:pt idx="8">
                    <c:v>10 Sep</c:v>
                  </c:pt>
                  <c:pt idx="9">
                    <c:v>11 Sep</c:v>
                  </c:pt>
                  <c:pt idx="10">
                    <c:v>12 Sep</c:v>
                  </c:pt>
                  <c:pt idx="11">
                    <c:v>13 Sep</c:v>
                  </c:pt>
                  <c:pt idx="12">
                    <c:v>14 Sep</c:v>
                  </c:pt>
                  <c:pt idx="13">
                    <c:v>15 Sep</c:v>
                  </c:pt>
                  <c:pt idx="14">
                    <c:v>16 Sep</c:v>
                  </c:pt>
                  <c:pt idx="15">
                    <c:v>17 Sep</c:v>
                  </c:pt>
                  <c:pt idx="16">
                    <c:v>18 Sep</c:v>
                  </c:pt>
                  <c:pt idx="17">
                    <c:v>19 Sep</c:v>
                  </c:pt>
                  <c:pt idx="18">
                    <c:v>20 Sep</c:v>
                  </c:pt>
                  <c:pt idx="19">
                    <c:v>21 Sep</c:v>
                  </c:pt>
                  <c:pt idx="20">
                    <c:v>22 Sep</c:v>
                  </c:pt>
                  <c:pt idx="21">
                    <c:v>23 Sep</c:v>
                  </c:pt>
                  <c:pt idx="22">
                    <c:v>24 Sep</c:v>
                  </c:pt>
                  <c:pt idx="23">
                    <c:v>25 Sep</c:v>
                  </c:pt>
                  <c:pt idx="24">
                    <c:v>26 Sep</c:v>
                  </c:pt>
                  <c:pt idx="25">
                    <c:v>27 Sep</c:v>
                  </c:pt>
                  <c:pt idx="26">
                    <c:v>28 Sep</c:v>
                  </c:pt>
                  <c:pt idx="27">
                    <c:v>29 Sep</c:v>
                  </c:pt>
                  <c:pt idx="28">
                    <c:v>30 Sep</c:v>
                  </c:pt>
                  <c:pt idx="29">
                    <c:v>1 Oct</c:v>
                  </c:pt>
                  <c:pt idx="30">
                    <c:v>2 Oct</c:v>
                  </c:pt>
                  <c:pt idx="31">
                    <c:v>3 Oct</c:v>
                  </c:pt>
                  <c:pt idx="32">
                    <c:v>4 Oct</c:v>
                  </c:pt>
                  <c:pt idx="33">
                    <c:v>5 Oct</c:v>
                  </c:pt>
                  <c:pt idx="34">
                    <c:v>6 Oct</c:v>
                  </c:pt>
                  <c:pt idx="35">
                    <c:v>7 Oct</c:v>
                  </c:pt>
                  <c:pt idx="36">
                    <c:v>8 Oct</c:v>
                  </c:pt>
                  <c:pt idx="37">
                    <c:v>9 Oct</c:v>
                  </c:pt>
                  <c:pt idx="38">
                    <c:v>10 Oct</c:v>
                  </c:pt>
                  <c:pt idx="39">
                    <c:v>11 Oct</c:v>
                  </c:pt>
                  <c:pt idx="40">
                    <c:v>12 Oct</c:v>
                  </c:pt>
                  <c:pt idx="41">
                    <c:v>13 Oct</c:v>
                  </c:pt>
                  <c:pt idx="42">
                    <c:v>14 Oct</c:v>
                  </c:pt>
                  <c:pt idx="43">
                    <c:v>15 Oct</c:v>
                  </c:pt>
                  <c:pt idx="44">
                    <c:v>16 Oct</c:v>
                  </c:pt>
                  <c:pt idx="45">
                    <c:v>17 Oct</c:v>
                  </c:pt>
                  <c:pt idx="46">
                    <c:v>18 Oct</c:v>
                  </c:pt>
                  <c:pt idx="47">
                    <c:v>19 Oct</c:v>
                  </c:pt>
                </c:lvl>
              </c:multiLvlStrCache>
            </c:multiLvlStrRef>
          </c:cat>
          <c:val>
            <c:numRef>
              <c:f>Sheet1!$C$2:$C$49</c:f>
              <c:numCache>
                <c:formatCode>General</c:formatCode>
                <c:ptCount val="48"/>
                <c:pt idx="0">
                  <c:v>41</c:v>
                </c:pt>
                <c:pt idx="1">
                  <c:v>43</c:v>
                </c:pt>
                <c:pt idx="2">
                  <c:v>41.9</c:v>
                </c:pt>
                <c:pt idx="3">
                  <c:v>41.4</c:v>
                </c:pt>
                <c:pt idx="4">
                  <c:v>47.3</c:v>
                </c:pt>
                <c:pt idx="5">
                  <c:v>43.2</c:v>
                </c:pt>
                <c:pt idx="6">
                  <c:v>43.3</c:v>
                </c:pt>
                <c:pt idx="7">
                  <c:v>43.5</c:v>
                </c:pt>
                <c:pt idx="8">
                  <c:v>42.6</c:v>
                </c:pt>
                <c:pt idx="9">
                  <c:v>43.7</c:v>
                </c:pt>
                <c:pt idx="10">
                  <c:v>42.6</c:v>
                </c:pt>
                <c:pt idx="11">
                  <c:v>33.2</c:v>
                </c:pt>
                <c:pt idx="12">
                  <c:v>40.4</c:v>
                </c:pt>
                <c:pt idx="13">
                  <c:v>42.2</c:v>
                </c:pt>
                <c:pt idx="14">
                  <c:v>40.6</c:v>
                </c:pt>
                <c:pt idx="15">
                  <c:v>40.2</c:v>
                </c:pt>
                <c:pt idx="16">
                  <c:v>40.4</c:v>
                </c:pt>
                <c:pt idx="17">
                  <c:v>40.6</c:v>
                </c:pt>
                <c:pt idx="18">
                  <c:v>51.7</c:v>
                </c:pt>
                <c:pt idx="19">
                  <c:v>58.4</c:v>
                </c:pt>
                <c:pt idx="20">
                  <c:v>56.8</c:v>
                </c:pt>
                <c:pt idx="21">
                  <c:v>56.3</c:v>
                </c:pt>
                <c:pt idx="22">
                  <c:v>56.6</c:v>
                </c:pt>
                <c:pt idx="23">
                  <c:v>57.1</c:v>
                </c:pt>
                <c:pt idx="24">
                  <c:v>56.2</c:v>
                </c:pt>
                <c:pt idx="25">
                  <c:v>56.4</c:v>
                </c:pt>
                <c:pt idx="26">
                  <c:v>56.5</c:v>
                </c:pt>
                <c:pt idx="27">
                  <c:v>56.6</c:v>
                </c:pt>
                <c:pt idx="28">
                  <c:v>57.3</c:v>
                </c:pt>
                <c:pt idx="29">
                  <c:v>56.9</c:v>
                </c:pt>
                <c:pt idx="30">
                  <c:v>56.4</c:v>
                </c:pt>
                <c:pt idx="31">
                  <c:v>58.6</c:v>
                </c:pt>
                <c:pt idx="32">
                  <c:v>58.5</c:v>
                </c:pt>
                <c:pt idx="33">
                  <c:v>56.2</c:v>
                </c:pt>
                <c:pt idx="34">
                  <c:v>54.8</c:v>
                </c:pt>
                <c:pt idx="35">
                  <c:v>56.3</c:v>
                </c:pt>
                <c:pt idx="36">
                  <c:v>59.1</c:v>
                </c:pt>
                <c:pt idx="37">
                  <c:v>57.9</c:v>
                </c:pt>
                <c:pt idx="38">
                  <c:v>58.4</c:v>
                </c:pt>
                <c:pt idx="39">
                  <c:v>53.2</c:v>
                </c:pt>
                <c:pt idx="40">
                  <c:v>64.6</c:v>
                </c:pt>
                <c:pt idx="41">
                  <c:v>64.3</c:v>
                </c:pt>
                <c:pt idx="42">
                  <c:v>64</c:v>
                </c:pt>
                <c:pt idx="43">
                  <c:v>63.7</c:v>
                </c:pt>
                <c:pt idx="44">
                  <c:v>64.2</c:v>
                </c:pt>
                <c:pt idx="45">
                  <c:v>63.6</c:v>
                </c:pt>
                <c:pt idx="46">
                  <c:v>66.6</c:v>
                </c:pt>
                <c:pt idx="47">
                  <c:v>59.1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Arsenal</c:v>
                </c:pt>
              </c:strCache>
            </c:strRef>
          </c:tx>
          <c:spPr>
            <a:solidFill>
              <a:srgbClr val="FF5A4E"/>
            </a:solidFill>
            <a:ln w="31750" cap="flat">
              <a:solidFill>
                <a:srgbClr val="FF5A4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C8FF6A"/>
              </a:solidFill>
              <a:ln w="9525" cap="flat">
                <a:solidFill>
                  <a:srgbClr val="FF5A4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2 Sep</c:v>
                  </c:pt>
                  <c:pt idx="1">
                    <c:v>3 Sep</c:v>
                  </c:pt>
                  <c:pt idx="2">
                    <c:v>4 Sep</c:v>
                  </c:pt>
                  <c:pt idx="3">
                    <c:v>5 Sep</c:v>
                  </c:pt>
                  <c:pt idx="4">
                    <c:v>6 Sep</c:v>
                  </c:pt>
                  <c:pt idx="5">
                    <c:v>7 Sep</c:v>
                  </c:pt>
                  <c:pt idx="6">
                    <c:v>8 Sep</c:v>
                  </c:pt>
                  <c:pt idx="7">
                    <c:v>9 Sep</c:v>
                  </c:pt>
                  <c:pt idx="8">
                    <c:v>10 Sep</c:v>
                  </c:pt>
                  <c:pt idx="9">
                    <c:v>11 Sep</c:v>
                  </c:pt>
                  <c:pt idx="10">
                    <c:v>12 Sep</c:v>
                  </c:pt>
                  <c:pt idx="11">
                    <c:v>13 Sep</c:v>
                  </c:pt>
                  <c:pt idx="12">
                    <c:v>14 Sep</c:v>
                  </c:pt>
                  <c:pt idx="13">
                    <c:v>15 Sep</c:v>
                  </c:pt>
                  <c:pt idx="14">
                    <c:v>16 Sep</c:v>
                  </c:pt>
                  <c:pt idx="15">
                    <c:v>17 Sep</c:v>
                  </c:pt>
                  <c:pt idx="16">
                    <c:v>18 Sep</c:v>
                  </c:pt>
                  <c:pt idx="17">
                    <c:v>19 Sep</c:v>
                  </c:pt>
                  <c:pt idx="18">
                    <c:v>20 Sep</c:v>
                  </c:pt>
                  <c:pt idx="19">
                    <c:v>21 Sep</c:v>
                  </c:pt>
                  <c:pt idx="20">
                    <c:v>22 Sep</c:v>
                  </c:pt>
                  <c:pt idx="21">
                    <c:v>23 Sep</c:v>
                  </c:pt>
                  <c:pt idx="22">
                    <c:v>24 Sep</c:v>
                  </c:pt>
                  <c:pt idx="23">
                    <c:v>25 Sep</c:v>
                  </c:pt>
                  <c:pt idx="24">
                    <c:v>26 Sep</c:v>
                  </c:pt>
                  <c:pt idx="25">
                    <c:v>27 Sep</c:v>
                  </c:pt>
                  <c:pt idx="26">
                    <c:v>28 Sep</c:v>
                  </c:pt>
                  <c:pt idx="27">
                    <c:v>29 Sep</c:v>
                  </c:pt>
                  <c:pt idx="28">
                    <c:v>30 Sep</c:v>
                  </c:pt>
                  <c:pt idx="29">
                    <c:v>1 Oct</c:v>
                  </c:pt>
                  <c:pt idx="30">
                    <c:v>2 Oct</c:v>
                  </c:pt>
                  <c:pt idx="31">
                    <c:v>3 Oct</c:v>
                  </c:pt>
                  <c:pt idx="32">
                    <c:v>4 Oct</c:v>
                  </c:pt>
                  <c:pt idx="33">
                    <c:v>5 Oct</c:v>
                  </c:pt>
                  <c:pt idx="34">
                    <c:v>6 Oct</c:v>
                  </c:pt>
                  <c:pt idx="35">
                    <c:v>7 Oct</c:v>
                  </c:pt>
                  <c:pt idx="36">
                    <c:v>8 Oct</c:v>
                  </c:pt>
                  <c:pt idx="37">
                    <c:v>9 Oct</c:v>
                  </c:pt>
                  <c:pt idx="38">
                    <c:v>10 Oct</c:v>
                  </c:pt>
                  <c:pt idx="39">
                    <c:v>11 Oct</c:v>
                  </c:pt>
                  <c:pt idx="40">
                    <c:v>12 Oct</c:v>
                  </c:pt>
                  <c:pt idx="41">
                    <c:v>13 Oct</c:v>
                  </c:pt>
                  <c:pt idx="42">
                    <c:v>14 Oct</c:v>
                  </c:pt>
                  <c:pt idx="43">
                    <c:v>15 Oct</c:v>
                  </c:pt>
                  <c:pt idx="44">
                    <c:v>16 Oct</c:v>
                  </c:pt>
                  <c:pt idx="45">
                    <c:v>17 Oct</c:v>
                  </c:pt>
                  <c:pt idx="46">
                    <c:v>18 Oct</c:v>
                  </c:pt>
                  <c:pt idx="47">
                    <c:v>19 Oct</c:v>
                  </c:pt>
                </c:lvl>
              </c:multiLvlStrCache>
            </c:multiLvlStrRef>
          </c:cat>
          <c:val>
            <c:numRef>
              <c:f>Sheet1!$D$2:$D$49</c:f>
              <c:numCache>
                <c:formatCode>General</c:formatCode>
                <c:ptCount val="48"/>
                <c:pt idx="0">
                  <c:v>43.7</c:v>
                </c:pt>
                <c:pt idx="1">
                  <c:v>45.5</c:v>
                </c:pt>
                <c:pt idx="2">
                  <c:v>45.9</c:v>
                </c:pt>
                <c:pt idx="3">
                  <c:v>45.1</c:v>
                </c:pt>
                <c:pt idx="4">
                  <c:v>42</c:v>
                </c:pt>
                <c:pt idx="5">
                  <c:v>48.3</c:v>
                </c:pt>
                <c:pt idx="6">
                  <c:v>47.9</c:v>
                </c:pt>
                <c:pt idx="7">
                  <c:v>48.3</c:v>
                </c:pt>
                <c:pt idx="8">
                  <c:v>48.9</c:v>
                </c:pt>
                <c:pt idx="9">
                  <c:v>48.5</c:v>
                </c:pt>
                <c:pt idx="10">
                  <c:v>49.2</c:v>
                </c:pt>
                <c:pt idx="11">
                  <c:v>61.4</c:v>
                </c:pt>
                <c:pt idx="12">
                  <c:v>55.8</c:v>
                </c:pt>
                <c:pt idx="13">
                  <c:v>53.2</c:v>
                </c:pt>
                <c:pt idx="14">
                  <c:v>54.5</c:v>
                </c:pt>
                <c:pt idx="15">
                  <c:v>55.4</c:v>
                </c:pt>
                <c:pt idx="16">
                  <c:v>54.7</c:v>
                </c:pt>
                <c:pt idx="17">
                  <c:v>54.1</c:v>
                </c:pt>
                <c:pt idx="18">
                  <c:v>39.1</c:v>
                </c:pt>
                <c:pt idx="19">
                  <c:v>34.4</c:v>
                </c:pt>
                <c:pt idx="20">
                  <c:v>36.2</c:v>
                </c:pt>
                <c:pt idx="21">
                  <c:v>37</c:v>
                </c:pt>
                <c:pt idx="22">
                  <c:v>37.1</c:v>
                </c:pt>
                <c:pt idx="23">
                  <c:v>36.4</c:v>
                </c:pt>
                <c:pt idx="24">
                  <c:v>36.9</c:v>
                </c:pt>
                <c:pt idx="25">
                  <c:v>36.5</c:v>
                </c:pt>
                <c:pt idx="26">
                  <c:v>36.9</c:v>
                </c:pt>
                <c:pt idx="27">
                  <c:v>36.3</c:v>
                </c:pt>
                <c:pt idx="28">
                  <c:v>36</c:v>
                </c:pt>
                <c:pt idx="29">
                  <c:v>36.7</c:v>
                </c:pt>
                <c:pt idx="30">
                  <c:v>36.8</c:v>
                </c:pt>
                <c:pt idx="31">
                  <c:v>34.3</c:v>
                </c:pt>
                <c:pt idx="32">
                  <c:v>34.3</c:v>
                </c:pt>
                <c:pt idx="33">
                  <c:v>37</c:v>
                </c:pt>
                <c:pt idx="34">
                  <c:v>38</c:v>
                </c:pt>
                <c:pt idx="35">
                  <c:v>36.4</c:v>
                </c:pt>
                <c:pt idx="36">
                  <c:v>33.7</c:v>
                </c:pt>
                <c:pt idx="37">
                  <c:v>34.6</c:v>
                </c:pt>
                <c:pt idx="38">
                  <c:v>34.5</c:v>
                </c:pt>
                <c:pt idx="39">
                  <c:v>39.1</c:v>
                </c:pt>
                <c:pt idx="40">
                  <c:v>31.3</c:v>
                </c:pt>
                <c:pt idx="41">
                  <c:v>31.6</c:v>
                </c:pt>
                <c:pt idx="42">
                  <c:v>31.4</c:v>
                </c:pt>
                <c:pt idx="43">
                  <c:v>32</c:v>
                </c:pt>
                <c:pt idx="44">
                  <c:v>31</c:v>
                </c:pt>
                <c:pt idx="45">
                  <c:v>31.5</c:v>
                </c:pt>
                <c:pt idx="46">
                  <c:v>29</c:v>
                </c:pt>
                <c:pt idx="47">
                  <c:v>34.9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Brighton</c:v>
                </c:pt>
              </c:strCache>
            </c:strRef>
          </c:tx>
          <c:spPr>
            <a:solidFill>
              <a:srgbClr val="C8FF6A"/>
            </a:solidFill>
            <a:ln w="31750" cap="flat">
              <a:solidFill>
                <a:srgbClr val="C8FF6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B9A92"/>
              </a:solidFill>
              <a:ln w="9525" cap="flat">
                <a:solidFill>
                  <a:srgbClr val="C8FF6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2 Sep</c:v>
                  </c:pt>
                  <c:pt idx="1">
                    <c:v>3 Sep</c:v>
                  </c:pt>
                  <c:pt idx="2">
                    <c:v>4 Sep</c:v>
                  </c:pt>
                  <c:pt idx="3">
                    <c:v>5 Sep</c:v>
                  </c:pt>
                  <c:pt idx="4">
                    <c:v>6 Sep</c:v>
                  </c:pt>
                  <c:pt idx="5">
                    <c:v>7 Sep</c:v>
                  </c:pt>
                  <c:pt idx="6">
                    <c:v>8 Sep</c:v>
                  </c:pt>
                  <c:pt idx="7">
                    <c:v>9 Sep</c:v>
                  </c:pt>
                  <c:pt idx="8">
                    <c:v>10 Sep</c:v>
                  </c:pt>
                  <c:pt idx="9">
                    <c:v>11 Sep</c:v>
                  </c:pt>
                  <c:pt idx="10">
                    <c:v>12 Sep</c:v>
                  </c:pt>
                  <c:pt idx="11">
                    <c:v>13 Sep</c:v>
                  </c:pt>
                  <c:pt idx="12">
                    <c:v>14 Sep</c:v>
                  </c:pt>
                  <c:pt idx="13">
                    <c:v>15 Sep</c:v>
                  </c:pt>
                  <c:pt idx="14">
                    <c:v>16 Sep</c:v>
                  </c:pt>
                  <c:pt idx="15">
                    <c:v>17 Sep</c:v>
                  </c:pt>
                  <c:pt idx="16">
                    <c:v>18 Sep</c:v>
                  </c:pt>
                  <c:pt idx="17">
                    <c:v>19 Sep</c:v>
                  </c:pt>
                  <c:pt idx="18">
                    <c:v>20 Sep</c:v>
                  </c:pt>
                  <c:pt idx="19">
                    <c:v>21 Sep</c:v>
                  </c:pt>
                  <c:pt idx="20">
                    <c:v>22 Sep</c:v>
                  </c:pt>
                  <c:pt idx="21">
                    <c:v>23 Sep</c:v>
                  </c:pt>
                  <c:pt idx="22">
                    <c:v>24 Sep</c:v>
                  </c:pt>
                  <c:pt idx="23">
                    <c:v>25 Sep</c:v>
                  </c:pt>
                  <c:pt idx="24">
                    <c:v>26 Sep</c:v>
                  </c:pt>
                  <c:pt idx="25">
                    <c:v>27 Sep</c:v>
                  </c:pt>
                  <c:pt idx="26">
                    <c:v>28 Sep</c:v>
                  </c:pt>
                  <c:pt idx="27">
                    <c:v>29 Sep</c:v>
                  </c:pt>
                  <c:pt idx="28">
                    <c:v>30 Sep</c:v>
                  </c:pt>
                  <c:pt idx="29">
                    <c:v>1 Oct</c:v>
                  </c:pt>
                  <c:pt idx="30">
                    <c:v>2 Oct</c:v>
                  </c:pt>
                  <c:pt idx="31">
                    <c:v>3 Oct</c:v>
                  </c:pt>
                  <c:pt idx="32">
                    <c:v>4 Oct</c:v>
                  </c:pt>
                  <c:pt idx="33">
                    <c:v>5 Oct</c:v>
                  </c:pt>
                  <c:pt idx="34">
                    <c:v>6 Oct</c:v>
                  </c:pt>
                  <c:pt idx="35">
                    <c:v>7 Oct</c:v>
                  </c:pt>
                  <c:pt idx="36">
                    <c:v>8 Oct</c:v>
                  </c:pt>
                  <c:pt idx="37">
                    <c:v>9 Oct</c:v>
                  </c:pt>
                  <c:pt idx="38">
                    <c:v>10 Oct</c:v>
                  </c:pt>
                  <c:pt idx="39">
                    <c:v>11 Oct</c:v>
                  </c:pt>
                  <c:pt idx="40">
                    <c:v>12 Oct</c:v>
                  </c:pt>
                  <c:pt idx="41">
                    <c:v>13 Oct</c:v>
                  </c:pt>
                  <c:pt idx="42">
                    <c:v>14 Oct</c:v>
                  </c:pt>
                  <c:pt idx="43">
                    <c:v>15 Oct</c:v>
                  </c:pt>
                  <c:pt idx="44">
                    <c:v>16 Oct</c:v>
                  </c:pt>
                  <c:pt idx="45">
                    <c:v>17 Oct</c:v>
                  </c:pt>
                  <c:pt idx="46">
                    <c:v>18 Oct</c:v>
                  </c:pt>
                  <c:pt idx="47">
                    <c:v>19 Oct</c:v>
                  </c:pt>
                </c:lvl>
              </c:multiLvlStrCache>
            </c:multiLvlStrRef>
          </c:cat>
          <c:val>
            <c:numRef>
              <c:f>Sheet1!$E$2:$E$49</c:f>
              <c:numCache>
                <c:formatCode>General</c:formatCode>
                <c:ptCount val="48"/>
                <c:pt idx="0">
                  <c:v>1.2</c:v>
                </c:pt>
                <c:pt idx="1">
                  <c:v>1.3</c:v>
                </c:pt>
                <c:pt idx="2">
                  <c:v>1.5</c:v>
                </c:pt>
                <c:pt idx="3">
                  <c:v>1.4</c:v>
                </c:pt>
                <c:pt idx="4">
                  <c:v>1</c:v>
                </c:pt>
                <c:pt idx="5">
                  <c:v>0.8</c:v>
                </c:pt>
                <c:pt idx="6">
                  <c:v>0.9</c:v>
                </c:pt>
                <c:pt idx="7">
                  <c:v>0.7</c:v>
                </c:pt>
                <c:pt idx="8">
                  <c:v>0.9</c:v>
                </c:pt>
                <c:pt idx="9">
                  <c:v>0.8</c:v>
                </c:pt>
                <c:pt idx="10">
                  <c:v>1</c:v>
                </c:pt>
                <c:pt idx="11">
                  <c:v>0.5</c:v>
                </c:pt>
                <c:pt idx="12">
                  <c:v>1.2</c:v>
                </c:pt>
                <c:pt idx="13">
                  <c:v>1.6</c:v>
                </c:pt>
                <c:pt idx="14">
                  <c:v>1.4</c:v>
                </c:pt>
                <c:pt idx="15">
                  <c:v>1.3</c:v>
                </c:pt>
                <c:pt idx="16">
                  <c:v>1.6</c:v>
                </c:pt>
                <c:pt idx="17">
                  <c:v>1.9</c:v>
                </c:pt>
                <c:pt idx="18">
                  <c:v>4.3</c:v>
                </c:pt>
                <c:pt idx="19">
                  <c:v>3.6</c:v>
                </c:pt>
                <c:pt idx="20">
                  <c:v>3.4</c:v>
                </c:pt>
                <c:pt idx="21">
                  <c:v>3.1</c:v>
                </c:pt>
                <c:pt idx="22">
                  <c:v>2.9</c:v>
                </c:pt>
                <c:pt idx="23">
                  <c:v>3</c:v>
                </c:pt>
                <c:pt idx="24">
                  <c:v>3.4</c:v>
                </c:pt>
                <c:pt idx="25">
                  <c:v>3.5</c:v>
                </c:pt>
                <c:pt idx="26">
                  <c:v>3</c:v>
                </c:pt>
                <c:pt idx="27">
                  <c:v>3.3</c:v>
                </c:pt>
                <c:pt idx="28">
                  <c:v>3.3</c:v>
                </c:pt>
                <c:pt idx="29">
                  <c:v>3</c:v>
                </c:pt>
                <c:pt idx="30">
                  <c:v>3.1</c:v>
                </c:pt>
                <c:pt idx="31">
                  <c:v>3.2</c:v>
                </c:pt>
                <c:pt idx="32">
                  <c:v>3.6</c:v>
                </c:pt>
                <c:pt idx="33">
                  <c:v>3.2</c:v>
                </c:pt>
                <c:pt idx="34">
                  <c:v>3.3</c:v>
                </c:pt>
                <c:pt idx="35">
                  <c:v>3.4</c:v>
                </c:pt>
                <c:pt idx="36">
                  <c:v>3.5</c:v>
                </c:pt>
                <c:pt idx="37">
                  <c:v>3.6</c:v>
                </c:pt>
                <c:pt idx="38">
                  <c:v>3.5</c:v>
                </c:pt>
                <c:pt idx="39">
                  <c:v>4.9</c:v>
                </c:pt>
                <c:pt idx="40">
                  <c:v>2.9</c:v>
                </c:pt>
                <c:pt idx="41">
                  <c:v>3.1</c:v>
                </c:pt>
                <c:pt idx="42">
                  <c:v>3.5</c:v>
                </c:pt>
                <c:pt idx="43">
                  <c:v>3.1</c:v>
                </c:pt>
                <c:pt idx="44">
                  <c:v>3.6</c:v>
                </c:pt>
                <c:pt idx="45">
                  <c:v>3.7</c:v>
                </c:pt>
                <c:pt idx="46">
                  <c:v>3.2</c:v>
                </c:pt>
                <c:pt idx="47">
                  <c:v>5.3</c:v>
                </c:pt>
              </c:numCache>
            </c:numRef>
          </c:val>
          <c:smooth val="0"/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Others</c:v>
                </c:pt>
              </c:strCache>
            </c:strRef>
          </c:tx>
          <c:spPr>
            <a:solidFill>
              <a:srgbClr val="8B9A92"/>
            </a:solidFill>
            <a:ln w="31750" cap="flat">
              <a:solidFill>
                <a:srgbClr val="8B9A9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7CC4F0"/>
              </a:solidFill>
              <a:ln w="9525" cap="flat">
                <a:solidFill>
                  <a:srgbClr val="8B9A9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Sheet1!$A$2:$A$49</c:f>
              <c:multiLvlStrCache>
                <c:ptCount val="48"/>
                <c:lvl>
                  <c:pt idx="0">
                    <c:v>2 Sep</c:v>
                  </c:pt>
                  <c:pt idx="1">
                    <c:v>3 Sep</c:v>
                  </c:pt>
                  <c:pt idx="2">
                    <c:v>4 Sep</c:v>
                  </c:pt>
                  <c:pt idx="3">
                    <c:v>5 Sep</c:v>
                  </c:pt>
                  <c:pt idx="4">
                    <c:v>6 Sep</c:v>
                  </c:pt>
                  <c:pt idx="5">
                    <c:v>7 Sep</c:v>
                  </c:pt>
                  <c:pt idx="6">
                    <c:v>8 Sep</c:v>
                  </c:pt>
                  <c:pt idx="7">
                    <c:v>9 Sep</c:v>
                  </c:pt>
                  <c:pt idx="8">
                    <c:v>10 Sep</c:v>
                  </c:pt>
                  <c:pt idx="9">
                    <c:v>11 Sep</c:v>
                  </c:pt>
                  <c:pt idx="10">
                    <c:v>12 Sep</c:v>
                  </c:pt>
                  <c:pt idx="11">
                    <c:v>13 Sep</c:v>
                  </c:pt>
                  <c:pt idx="12">
                    <c:v>14 Sep</c:v>
                  </c:pt>
                  <c:pt idx="13">
                    <c:v>15 Sep</c:v>
                  </c:pt>
                  <c:pt idx="14">
                    <c:v>16 Sep</c:v>
                  </c:pt>
                  <c:pt idx="15">
                    <c:v>17 Sep</c:v>
                  </c:pt>
                  <c:pt idx="16">
                    <c:v>18 Sep</c:v>
                  </c:pt>
                  <c:pt idx="17">
                    <c:v>19 Sep</c:v>
                  </c:pt>
                  <c:pt idx="18">
                    <c:v>20 Sep</c:v>
                  </c:pt>
                  <c:pt idx="19">
                    <c:v>21 Sep</c:v>
                  </c:pt>
                  <c:pt idx="20">
                    <c:v>22 Sep</c:v>
                  </c:pt>
                  <c:pt idx="21">
                    <c:v>23 Sep</c:v>
                  </c:pt>
                  <c:pt idx="22">
                    <c:v>24 Sep</c:v>
                  </c:pt>
                  <c:pt idx="23">
                    <c:v>25 Sep</c:v>
                  </c:pt>
                  <c:pt idx="24">
                    <c:v>26 Sep</c:v>
                  </c:pt>
                  <c:pt idx="25">
                    <c:v>27 Sep</c:v>
                  </c:pt>
                  <c:pt idx="26">
                    <c:v>28 Sep</c:v>
                  </c:pt>
                  <c:pt idx="27">
                    <c:v>29 Sep</c:v>
                  </c:pt>
                  <c:pt idx="28">
                    <c:v>30 Sep</c:v>
                  </c:pt>
                  <c:pt idx="29">
                    <c:v>1 Oct</c:v>
                  </c:pt>
                  <c:pt idx="30">
                    <c:v>2 Oct</c:v>
                  </c:pt>
                  <c:pt idx="31">
                    <c:v>3 Oct</c:v>
                  </c:pt>
                  <c:pt idx="32">
                    <c:v>4 Oct</c:v>
                  </c:pt>
                  <c:pt idx="33">
                    <c:v>5 Oct</c:v>
                  </c:pt>
                  <c:pt idx="34">
                    <c:v>6 Oct</c:v>
                  </c:pt>
                  <c:pt idx="35">
                    <c:v>7 Oct</c:v>
                  </c:pt>
                  <c:pt idx="36">
                    <c:v>8 Oct</c:v>
                  </c:pt>
                  <c:pt idx="37">
                    <c:v>9 Oct</c:v>
                  </c:pt>
                  <c:pt idx="38">
                    <c:v>10 Oct</c:v>
                  </c:pt>
                  <c:pt idx="39">
                    <c:v>11 Oct</c:v>
                  </c:pt>
                  <c:pt idx="40">
                    <c:v>12 Oct</c:v>
                  </c:pt>
                  <c:pt idx="41">
                    <c:v>13 Oct</c:v>
                  </c:pt>
                  <c:pt idx="42">
                    <c:v>14 Oct</c:v>
                  </c:pt>
                  <c:pt idx="43">
                    <c:v>15 Oct</c:v>
                  </c:pt>
                  <c:pt idx="44">
                    <c:v>16 Oct</c:v>
                  </c:pt>
                  <c:pt idx="45">
                    <c:v>17 Oct</c:v>
                  </c:pt>
                  <c:pt idx="46">
                    <c:v>18 Oct</c:v>
                  </c:pt>
                  <c:pt idx="47">
                    <c:v>19 Oct</c:v>
                  </c:pt>
                </c:lvl>
              </c:multiLvlStrCache>
            </c:multiLvlStrRef>
          </c:cat>
          <c:val>
            <c:numRef>
              <c:f>Sheet1!$F$2:$F$49</c:f>
              <c:numCache>
                <c:formatCode>General</c:formatCode>
                <c:ptCount val="48"/>
                <c:pt idx="0">
                  <c:v>14.1</c:v>
                </c:pt>
                <c:pt idx="1">
                  <c:v>10.2</c:v>
                </c:pt>
                <c:pt idx="2">
                  <c:v>10.7</c:v>
                </c:pt>
                <c:pt idx="3">
                  <c:v>12.1</c:v>
                </c:pt>
                <c:pt idx="4">
                  <c:v>9.7</c:v>
                </c:pt>
                <c:pt idx="5">
                  <c:v>7.7</c:v>
                </c:pt>
                <c:pt idx="6">
                  <c:v>7.9</c:v>
                </c:pt>
                <c:pt idx="7">
                  <c:v>7.5</c:v>
                </c:pt>
                <c:pt idx="8">
                  <c:v>7.6</c:v>
                </c:pt>
                <c:pt idx="9">
                  <c:v>7</c:v>
                </c:pt>
                <c:pt idx="10">
                  <c:v>7.2</c:v>
                </c:pt>
                <c:pt idx="11">
                  <c:v>4.9</c:v>
                </c:pt>
                <c:pt idx="12">
                  <c:v>2.6</c:v>
                </c:pt>
                <c:pt idx="13">
                  <c:v>3</c:v>
                </c:pt>
                <c:pt idx="14">
                  <c:v>3.5</c:v>
                </c:pt>
                <c:pt idx="15">
                  <c:v>3.1</c:v>
                </c:pt>
                <c:pt idx="16">
                  <c:v>3.3</c:v>
                </c:pt>
                <c:pt idx="17">
                  <c:v>3.4</c:v>
                </c:pt>
                <c:pt idx="18">
                  <c:v>4.9</c:v>
                </c:pt>
                <c:pt idx="19">
                  <c:v>3.6</c:v>
                </c:pt>
                <c:pt idx="20">
                  <c:v>3.6</c:v>
                </c:pt>
                <c:pt idx="21">
                  <c:v>3.6</c:v>
                </c:pt>
                <c:pt idx="22">
                  <c:v>3.4</c:v>
                </c:pt>
                <c:pt idx="23">
                  <c:v>3.5</c:v>
                </c:pt>
                <c:pt idx="24">
                  <c:v>3.5</c:v>
                </c:pt>
                <c:pt idx="25">
                  <c:v>3.6</c:v>
                </c:pt>
                <c:pt idx="26">
                  <c:v>3.6</c:v>
                </c:pt>
                <c:pt idx="27">
                  <c:v>3.8</c:v>
                </c:pt>
                <c:pt idx="28">
                  <c:v>3.4</c:v>
                </c:pt>
                <c:pt idx="29">
                  <c:v>3.4</c:v>
                </c:pt>
                <c:pt idx="30">
                  <c:v>3.7</c:v>
                </c:pt>
                <c:pt idx="31">
                  <c:v>3.9</c:v>
                </c:pt>
                <c:pt idx="32">
                  <c:v>3.6</c:v>
                </c:pt>
                <c:pt idx="33">
                  <c:v>3.6</c:v>
                </c:pt>
                <c:pt idx="34">
                  <c:v>3.9</c:v>
                </c:pt>
                <c:pt idx="35">
                  <c:v>3.9</c:v>
                </c:pt>
                <c:pt idx="36">
                  <c:v>3.7</c:v>
                </c:pt>
                <c:pt idx="37">
                  <c:v>3.9</c:v>
                </c:pt>
                <c:pt idx="38">
                  <c:v>3.6</c:v>
                </c:pt>
                <c:pt idx="39">
                  <c:v>2.8</c:v>
                </c:pt>
                <c:pt idx="40">
                  <c:v>1.2</c:v>
                </c:pt>
                <c:pt idx="41">
                  <c:v>1</c:v>
                </c:pt>
                <c:pt idx="42">
                  <c:v>1.1</c:v>
                </c:pt>
                <c:pt idx="43">
                  <c:v>1.2</c:v>
                </c:pt>
                <c:pt idx="44">
                  <c:v>1.2</c:v>
                </c:pt>
                <c:pt idx="45">
                  <c:v>1.2</c:v>
                </c:pt>
                <c:pt idx="46">
                  <c:v>1.2</c:v>
                </c:pt>
                <c:pt idx="47">
                  <c:v>0.7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5F7F6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7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9525" cap="flat">
              <a:solidFill>
                <a:srgbClr val="26302B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0D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A3ADA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0B0F0D">
        <a:alpha val="0"/>
      </a:srgbClr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A3ADA8"/>
                </a:solidFill>
                <a:latin typeface="+mn-lt"/>
              </a:defRPr>
            </a:pPr>
            <a:r>
              <a:rPr sz="1200" b="0" i="0" u="none" strike="noStrike">
                <a:solidFill>
                  <a:srgbClr val="A3ADA8"/>
                </a:solidFill>
                <a:latin typeface="+mn-lt"/>
              </a:rPr>
              <a:t>Final-position probabilities, grouped by how confident the model was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Predicted</c:v>
                </c:pt>
              </c:strCache>
            </c:strRef>
          </c:tx>
          <c:spPr>
            <a:solidFill>
              <a:srgbClr val="5A6B62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0–5%</c:v>
                  </c:pt>
                  <c:pt idx="1">
                    <c:v>5–15%</c:v>
                  </c:pt>
                  <c:pt idx="2">
                    <c:v>15–30%</c:v>
                  </c:pt>
                  <c:pt idx="3">
                    <c:v>30–50%</c:v>
                  </c:pt>
                  <c:pt idx="4">
                    <c:v>50–70%</c:v>
                  </c:pt>
                  <c:pt idx="5">
                    <c:v>70–85%</c:v>
                  </c:pt>
                  <c:pt idx="6">
                    <c:v>85–95%</c:v>
                  </c:pt>
                  <c:pt idx="7">
                    <c:v>95–100%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1.2</c:v>
                </c:pt>
                <c:pt idx="1">
                  <c:v>10</c:v>
                </c:pt>
                <c:pt idx="2">
                  <c:v>20.6</c:v>
                </c:pt>
                <c:pt idx="3">
                  <c:v>38</c:v>
                </c:pt>
                <c:pt idx="4">
                  <c:v>59.3</c:v>
                </c:pt>
                <c:pt idx="5">
                  <c:v>77.8</c:v>
                </c:pt>
                <c:pt idx="6">
                  <c:v>90.3</c:v>
                </c:pt>
                <c:pt idx="7">
                  <c:v>98.7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Actually happened</c:v>
                </c:pt>
              </c:strCache>
            </c:strRef>
          </c:tx>
          <c:spPr>
            <a:solidFill>
              <a:srgbClr val="3EE07A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5F7F6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0–5%</c:v>
                  </c:pt>
                  <c:pt idx="1">
                    <c:v>5–15%</c:v>
                  </c:pt>
                  <c:pt idx="2">
                    <c:v>15–30%</c:v>
                  </c:pt>
                  <c:pt idx="3">
                    <c:v>30–50%</c:v>
                  </c:pt>
                  <c:pt idx="4">
                    <c:v>50–70%</c:v>
                  </c:pt>
                  <c:pt idx="5">
                    <c:v>70–85%</c:v>
                  </c:pt>
                  <c:pt idx="6">
                    <c:v>85–95%</c:v>
                  </c:pt>
                  <c:pt idx="7">
                    <c:v>95–100%</c:v>
                  </c:pt>
                </c:lvl>
              </c:multiLvlStrCache>
            </c:multiLvl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3.4</c:v>
                </c:pt>
                <c:pt idx="1">
                  <c:v>9.4</c:v>
                </c:pt>
                <c:pt idx="2">
                  <c:v>16.4</c:v>
                </c:pt>
                <c:pt idx="3">
                  <c:v>37.3</c:v>
                </c:pt>
                <c:pt idx="4">
                  <c:v>50.3</c:v>
                </c:pt>
                <c:pt idx="5">
                  <c:v>80.9</c:v>
                </c:pt>
                <c:pt idx="6">
                  <c:v>89.2</c:v>
                </c:pt>
                <c:pt idx="7">
                  <c:v>94.4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900" u="none">
                  <a:solidFill>
                    <a:srgbClr val="F5F7F6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A3ADA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0F0D">
            <a:alpha val="0"/>
          </a:srgbClr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100">
              <a:solidFill>
                <a:srgbClr val="A3ADA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solidFill>
      <a:srgbClr val="0B0F0D">
        <a:alpha val="0"/>
      </a:srgbClr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CONTENT-image-2.jpe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SECTION-image-2.jpe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COVER-image-1.jpe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image" Target="../media/CLOSING-image-2.jpe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Predicting Match and Season Outcomes  ·  Twelve × TGG Masterclass  ·  Victoria Friss de Kereki</a:t>
            </a:r>
            <a:endParaRPr lang="en-US" sz="900" dirty="0"/>
          </a:p>
        </p:txBody>
      </p:sp>
      <p:pic>
        <p:nvPicPr>
          <p:cNvPr id="3" name="Image 0" descr="/Users/vicky/Documents/GitHub/Personal/Football-analytics/Accessory + unfinished notebooks/TGG deck builder/assets/tgg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6382512"/>
            <a:ext cx="274320" cy="32461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5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Predicting Match and Season Outcomes  ·  Twelve × TGG Masterclass  ·  Victoria Friss de Kereki</a:t>
            </a:r>
            <a:endParaRPr lang="en-US" sz="900" dirty="0"/>
          </a:p>
        </p:txBody>
      </p:sp>
      <p:pic>
        <p:nvPicPr>
          <p:cNvPr id="3" name="Image 0" descr="/Users/vicky/Documents/GitHub/Personal/Football-analytics/Accessory + unfinished notebooks/TGG deck builder/assets/tgg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6382512"/>
            <a:ext cx="274320" cy="32461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48640" y="2743200"/>
            <a:ext cx="100584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Predicting Match and Season Outcomes  ·  Twelve × TGG Masterclass  ·  Victoria Friss de Kereki</a:t>
            </a:r>
            <a:endParaRPr lang="en-US" sz="900" dirty="0"/>
          </a:p>
        </p:txBody>
      </p:sp>
      <p:pic>
        <p:nvPicPr>
          <p:cNvPr id="3" name="Image 0" descr="/Users/vicky/Documents/GitHub/Personal/Football-analytics/Accessory + unfinished notebooks/TGG deck builder/assets/tgg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3015" y="6382512"/>
            <a:ext cx="274320" cy="32461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hyperlink" Target="https://football-league-simulator.streamlit.app" TargetMode="Externa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football-league-simulator.streamlit.app" TargetMode="External"/><Relationship Id="rId3" Type="http://schemas.openxmlformats.org/officeDocument/2006/relationships/hyperlink" Target="https://football-league-simulator.streamlit.app" TargetMode="External"/><Relationship Id="rId1" Type="http://schemas.openxmlformats.org/officeDocument/2006/relationships/image" Target="../media/image-14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s://football-league-simulator.streamlit.app" TargetMode="External"/><Relationship Id="rId3" Type="http://schemas.openxmlformats.org/officeDocument/2006/relationships/hyperlink" Target="https://football-league-simulator.streamlit.app" TargetMode="External"/><Relationship Id="rId1" Type="http://schemas.openxmlformats.org/officeDocument/2006/relationships/image" Target="../media/image-15-1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hyperlink" Target="https://football-league-simulator.streamlit.app" TargetMode="External"/><Relationship Id="rId2" Type="http://schemas.openxmlformats.org/officeDocument/2006/relationships/hyperlink" Target="https://github.com/vickyfriss/football-league-predictions" TargetMode="External"/><Relationship Id="rId3" Type="http://schemas.openxmlformats.org/officeDocument/2006/relationships/hyperlink" Target="https://medium.com/@vickyfrissdekereki" TargetMode="External"/><Relationship Id="rId4" Type="http://schemas.openxmlformats.org/officeDocument/2006/relationships/hyperlink" Target="https://linkedin.com/in/victoria-friss-de-kereki" TargetMode="External"/><Relationship Id="rId5" Type="http://schemas.openxmlformats.org/officeDocument/2006/relationships/image" Target="../media/image-26-1.png"/><Relationship Id="rId6" Type="http://schemas.openxmlformats.org/officeDocument/2006/relationships/image" Target="../media/image-26-2.png"/><Relationship Id="rId7" Type="http://schemas.openxmlformats.org/officeDocument/2006/relationships/slideLayout" Target="../slideLayouts/slideLayout5.xml"/><Relationship Id="rId8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welve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48640"/>
            <a:ext cx="1691640" cy="43799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2377440" y="548640"/>
            <a:ext cx="274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×</a:t>
            </a:r>
            <a:endParaRPr lang="en-US" sz="1800" dirty="0"/>
          </a:p>
        </p:txBody>
      </p:sp>
      <p:pic>
        <p:nvPicPr>
          <p:cNvPr id="4" name="Image 1" descr="Training Ground Guru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920" y="548640"/>
            <a:ext cx="393192" cy="46634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985455" y="566928"/>
            <a:ext cx="3657600" cy="457200"/>
          </a:xfrm>
          <a:prstGeom prst="roundRect">
            <a:avLst>
              <a:gd name="adj" fmla="val 50000"/>
            </a:avLst>
          </a:prstGeom>
          <a:solidFill>
            <a:srgbClr val="2A1408">
              <a:alpha val="90000"/>
            </a:srgbClr>
          </a:solidFill>
          <a:ln w="15875">
            <a:solidFill>
              <a:srgbClr val="8A3A1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7985455" y="5669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6A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●  </a:t>
            </a:r>
            <a:pPr algn="ctr" indent="0" marL="0">
              <a:buNone/>
            </a:pPr>
            <a:r>
              <a:rPr lang="en-US" sz="1700" b="1" dirty="0">
                <a:solidFill>
                  <a:srgbClr val="FF6A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Premium Member Masterclass</a:t>
            </a:r>
            <a:endParaRPr lang="en-US" sz="1700" dirty="0"/>
          </a:p>
        </p:txBody>
      </p:sp>
      <p:sp>
        <p:nvSpPr>
          <p:cNvPr id="7" name="Text 3"/>
          <p:cNvSpPr txBox="1"/>
          <p:nvPr/>
        </p:nvSpPr>
        <p:spPr>
          <a:xfrm>
            <a:off x="548640" y="20574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Monday 19 October</a:t>
            </a:r>
            <a:pPr indent="0" marL="0">
              <a:buNone/>
            </a:pPr>
            <a:r>
              <a:rPr lang="en-US" sz="20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 ·  19:00 UK / 20:00 CET</a:t>
            </a:r>
            <a:endParaRPr lang="en-US" sz="20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251460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8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Predicting Match and</a:t>
            </a:r>
            <a:endParaRPr lang="en-US" sz="4800" dirty="0"/>
          </a:p>
          <a:p>
            <a:pPr indent="0" marL="0">
              <a:buNone/>
            </a:pPr>
            <a:r>
              <a:rPr lang="en-US" sz="48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Season Outcomes</a:t>
            </a:r>
            <a:endParaRPr lang="en-US" sz="480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4251960"/>
            <a:ext cx="6629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9D1C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Betting odds, a goal model, and 10,000 simulated seasons: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9D1C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team's chance of every final league position.</a:t>
            </a:r>
            <a:endParaRPr lang="en-US" sz="1800" dirty="0"/>
          </a:p>
        </p:txBody>
      </p:sp>
      <p:pic>
        <p:nvPicPr>
          <p:cNvPr id="10" name="Image 2" descr="Victoria Friss de Kereki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0" y="1874520"/>
            <a:ext cx="2286000" cy="228600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6995160" y="4297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Victoria Friss de Kereki</a:t>
            </a:r>
            <a:endParaRPr lang="en-US" sz="2400" dirty="0"/>
          </a:p>
        </p:txBody>
      </p:sp>
      <p:sp>
        <p:nvSpPr>
          <p:cNvPr id="12" name="Text 7"/>
          <p:cNvSpPr txBox="1"/>
          <p:nvPr/>
        </p:nvSpPr>
        <p:spPr>
          <a:xfrm>
            <a:off x="6995160" y="47548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Football Data Analyst @ SkillCorner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6995160" y="50749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Creator of the Football League Simulator</a:t>
            </a:r>
            <a:endParaRPr lang="en-US" sz="1400" dirty="0"/>
          </a:p>
        </p:txBody>
      </p:sp>
      <p:sp>
        <p:nvSpPr>
          <p:cNvPr id="14" name="Text 9"/>
          <p:cNvSpPr txBox="1"/>
          <p:nvPr/>
        </p:nvSpPr>
        <p:spPr>
          <a:xfrm>
            <a:off x="548640" y="6172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u="sng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4" invalidUrl="" action="" tgtFrame="" tooltip="Open the live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football-league-simulator.streamlit.app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WHO'S TALKING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     Hi, I'm Vicky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141B18">
              <a:alpha val="65000"/>
            </a:srgbClr>
          </a:solidFill>
          <a:ln w="12700">
            <a:solidFill>
              <a:srgbClr val="26302B"/>
            </a:solidFill>
            <a:prstDash val="solid"/>
          </a:ln>
        </p:spPr>
      </p:sp>
      <p:pic>
        <p:nvPicPr>
          <p:cNvPr id="5" name="Image 0" descr="Photo of Victoria Friss de Kereki">    </p:cNvPr>
          <p:cNvPicPr>
            <a:picLocks noChangeAspect="1"/>
          </p:cNvPicPr>
          <p:nvPr/>
        </p:nvPicPr>
        <p:blipFill>
          <a:blip r:embed="rId1"/>
          <a:srcRect l="2528" r="2528" t="0" b="0"/>
          <a:stretch/>
        </p:blipFill>
        <p:spPr>
          <a:xfrm>
            <a:off x="640080" y="1828800"/>
            <a:ext cx="3108960" cy="4206240"/>
          </a:xfrm>
          <a:prstGeom prst="rect">
            <a:avLst/>
          </a:prstGeom>
        </p:spPr>
      </p:pic>
      <p:pic>
        <p:nvPicPr>
          <p:cNvPr id="6" name="Image 1" descr="Flag of Urugua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731520"/>
            <a:ext cx="36576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343400" y="157276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FROM FINANCE TO FOOTBALL</a:t>
            </a:r>
            <a:endParaRPr lang="en-US" sz="1100" dirty="0"/>
          </a:p>
        </p:txBody>
      </p:sp>
      <p:sp>
        <p:nvSpPr>
          <p:cNvPr id="8" name="Text 4"/>
          <p:cNvSpPr txBox="1"/>
          <p:nvPr/>
        </p:nvSpPr>
        <p:spPr>
          <a:xfrm>
            <a:off x="4343400" y="181965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Years in Finance + BI, a lot of it around fintech, then all in on football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4343400" y="216712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LEARNING</a:t>
            </a:r>
            <a:endParaRPr lang="en-US" sz="1100" dirty="0"/>
          </a:p>
        </p:txBody>
      </p:sp>
      <p:sp>
        <p:nvSpPr>
          <p:cNvPr id="10" name="Text 6"/>
          <p:cNvSpPr txBox="1"/>
          <p:nvPr/>
        </p:nvSpPr>
        <p:spPr>
          <a:xfrm>
            <a:off x="4343400" y="2414016"/>
            <a:ext cx="7269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MSc Finance (2023) · MSc Data Science &amp; Analytics (2024)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Context Engineering course with Twelve (2026)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4343400" y="303580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CURRENTLY</a:t>
            </a:r>
            <a:endParaRPr lang="en-US" sz="1100" dirty="0"/>
          </a:p>
        </p:txBody>
      </p:sp>
      <p:sp>
        <p:nvSpPr>
          <p:cNvPr id="12" name="Text 8"/>
          <p:cNvSpPr txBox="1"/>
          <p:nvPr/>
        </p:nvSpPr>
        <p:spPr>
          <a:xfrm>
            <a:off x="4343400" y="328269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Football Data Analyst @ SkillCorner since June 2026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343400" y="363016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SIDE PROJECTS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4343400" y="387705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Football analytics on Medium + tonight's 9-league simulator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4343400" y="4224528"/>
            <a:ext cx="7132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OFF THE PITCH</a:t>
            </a:r>
            <a:endParaRPr lang="en-US" sz="1100" dirty="0"/>
          </a:p>
        </p:txBody>
      </p:sp>
      <p:sp>
        <p:nvSpPr>
          <p:cNvPr id="16" name="Text 12"/>
          <p:cNvSpPr txBox="1"/>
          <p:nvPr/>
        </p:nvSpPr>
        <p:spPr>
          <a:xfrm>
            <a:off x="4343400" y="4471416"/>
            <a:ext cx="7269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Weightlifting, strongwoman, CrossFit… and rugby (recovering post-ACL surgery)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343400" y="493776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526280" y="48737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</a:t>
            </a:r>
            <a:endParaRPr lang="en-US" sz="3200" dirty="0"/>
          </a:p>
        </p:txBody>
      </p:sp>
      <p:sp>
        <p:nvSpPr>
          <p:cNvPr id="19" name="Text 15"/>
          <p:cNvSpPr txBox="1"/>
          <p:nvPr/>
        </p:nvSpPr>
        <p:spPr>
          <a:xfrm>
            <a:off x="4526280" y="5559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leagues simulated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812280" y="493776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995160" y="48737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10,000</a:t>
            </a:r>
            <a:endParaRPr lang="en-US" sz="3200" dirty="0"/>
          </a:p>
        </p:txBody>
      </p:sp>
      <p:sp>
        <p:nvSpPr>
          <p:cNvPr id="22" name="Text 18"/>
          <p:cNvSpPr txBox="1"/>
          <p:nvPr/>
        </p:nvSpPr>
        <p:spPr>
          <a:xfrm>
            <a:off x="6995160" y="5559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seasons per league, per run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9281160" y="4937760"/>
            <a:ext cx="2286000" cy="1188720"/>
          </a:xfrm>
          <a:prstGeom prst="roundRect">
            <a:avLst>
              <a:gd name="adj" fmla="val 9231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9464040" y="4873752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225</a:t>
            </a:r>
            <a:endParaRPr lang="en-US" sz="3200" dirty="0"/>
          </a:p>
        </p:txBody>
      </p:sp>
      <p:sp>
        <p:nvSpPr>
          <p:cNvPr id="25" name="Text 21"/>
          <p:cNvSpPr txBox="1"/>
          <p:nvPr/>
        </p:nvSpPr>
        <p:spPr>
          <a:xfrm>
            <a:off x="9464040" y="5559552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days running live, every day since Mar 2026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TONIGHT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we'll build tonight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141B18">
              <a:alpha val="7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4592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645920" y="164592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one idea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5486400" y="164592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Distributions, not predictions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251460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141B18">
              <a:alpha val="7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251460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1645920" y="251460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Building the model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486400" y="251460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Odds, Poisson, ratings, shrinkage, promoted teams, win/draw/loss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141B18">
              <a:alpha val="7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38328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1645920" y="338328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Simulating the season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0" y="338328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Monte Carlo: 10,000 seasons in a tenth of a second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141B18">
              <a:alpha val="7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25196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1645920" y="425196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Does it work?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0" y="425196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Last season's calls, calibration, and what broke in production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1064240" cy="713232"/>
          </a:xfrm>
          <a:prstGeom prst="roundRect">
            <a:avLst>
              <a:gd name="adj" fmla="val 15385"/>
            </a:avLst>
          </a:prstGeom>
          <a:solidFill>
            <a:srgbClr val="141B18">
              <a:alpha val="7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12064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5120640"/>
            <a:ext cx="38404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Q&amp;A</a:t>
            </a:r>
            <a:endParaRPr lang="en-US" sz="19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5120640"/>
            <a:ext cx="5943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Your questions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01 · THE ONE IDEA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Stop asking “who will win?” Ask “how likely?”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120640" cy="1417320"/>
          </a:xfrm>
          <a:prstGeom prst="roundRect">
            <a:avLst>
              <a:gd name="adj" fmla="val 7742"/>
            </a:avLst>
          </a:prstGeom>
          <a:solidFill>
            <a:srgbClr val="2A1408">
              <a:alpha val="70000"/>
            </a:srgbClr>
          </a:solidFill>
          <a:ln w="12700">
            <a:solidFill>
              <a:srgbClr val="6B2E1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2B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POINT PREDICTION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0312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“Man City will win the league.”</a:t>
            </a:r>
            <a:endParaRPr lang="en-US" sz="2100" dirty="0"/>
          </a:p>
        </p:txBody>
      </p:sp>
      <p:sp>
        <p:nvSpPr>
          <p:cNvPr id="7" name="click1_0"/>
          <p:cNvSpPr/>
          <p:nvPr/>
        </p:nvSpPr>
        <p:spPr>
          <a:xfrm>
            <a:off x="548640" y="3246120"/>
            <a:ext cx="5120640" cy="1737360"/>
          </a:xfrm>
          <a:prstGeom prst="roundRect">
            <a:avLst>
              <a:gd name="adj" fmla="val 6316"/>
            </a:avLst>
          </a:prstGeom>
          <a:solidFill>
            <a:srgbClr val="0F2418">
              <a:alpha val="80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8" name="click1_1"/>
          <p:cNvSpPr txBox="1"/>
          <p:nvPr/>
        </p:nvSpPr>
        <p:spPr>
          <a:xfrm>
            <a:off x="822960" y="3383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PROBABILITY DISTRIBUTION</a:t>
            </a:r>
            <a:endParaRPr lang="en-US" sz="1200" dirty="0"/>
          </a:p>
        </p:txBody>
      </p:sp>
      <p:sp>
        <p:nvSpPr>
          <p:cNvPr id="9" name="click1_2"/>
          <p:cNvSpPr txBox="1"/>
          <p:nvPr/>
        </p:nvSpPr>
        <p:spPr>
          <a:xfrm>
            <a:off x="822960" y="37033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“Man City: 59% to finish 1st, 31% 2nd, &gt;99% top four… and Arsenal still win it 35% of the time.”</a:t>
            </a:r>
            <a:endParaRPr lang="en-US" sz="1800" dirty="0"/>
          </a:p>
        </p:txBody>
      </p:sp>
      <p:sp>
        <p:nvSpPr>
          <p:cNvPr id="10" name="click1_3"/>
          <p:cNvSpPr txBox="1"/>
          <p:nvPr/>
        </p:nvSpPr>
        <p:spPr>
          <a:xfrm>
            <a:off x="548640" y="5212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simulated season is one sample. The useful part is the spread.</a:t>
            </a:r>
            <a:endParaRPr lang="en-US" sz="14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How close is 2nd? How real is the drop zone? A single ranking throws that away.</a:t>
            </a:r>
            <a:endParaRPr lang="en-US" sz="1400" dirty="0"/>
          </a:p>
        </p:txBody>
      </p:sp>
      <p:graphicFrame>
        <p:nvGraphicFramePr>
          <p:cNvPr id="11" name="click1_4" descr=""/>
          <p:cNvGraphicFramePr/>
          <p:nvPr/>
        </p:nvGraphicFramePr>
        <p:xfrm>
          <a:off x="6126480" y="1600200"/>
          <a:ext cx="54864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02 · BUILDING THE MODEL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whole pipeline on one slide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Fixtures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265176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65176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Betting odds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Match history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2194560" cy="731520"/>
          </a:xfrm>
          <a:prstGeom prst="roundRect">
            <a:avLst>
              <a:gd name="adj" fmla="val 15000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6B756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45720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Current table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21488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74720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1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474720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Team ratings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3474720" y="3291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attack &amp; defence per team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from goals, plus shrinkage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166360" y="2788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468112" y="21488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650992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650992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Match probabilities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650992" y="3291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home / draw / away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market if priced, else model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7342632" y="2788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644384" y="21488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827264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827264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Monte Carlo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827264" y="3291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10,000 full seasons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simulated at once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9518904" y="2788920"/>
            <a:ext cx="3017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2000" dirty="0"/>
          </a:p>
        </p:txBody>
      </p:sp>
      <p:sp>
        <p:nvSpPr>
          <p:cNvPr id="27" name="Shape 25"/>
          <p:cNvSpPr/>
          <p:nvPr/>
        </p:nvSpPr>
        <p:spPr>
          <a:xfrm>
            <a:off x="9820656" y="2148840"/>
            <a:ext cx="1874520" cy="1920240"/>
          </a:xfrm>
          <a:prstGeom prst="roundRect">
            <a:avLst>
              <a:gd name="adj" fmla="val 5854"/>
            </a:avLst>
          </a:prstGeom>
          <a:solidFill>
            <a:srgbClr val="0F2418">
              <a:alpha val="90000"/>
            </a:srgbClr>
          </a:solidFill>
          <a:ln w="19050">
            <a:solidFill>
              <a:srgbClr val="3EE07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03536" y="228600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10003536" y="269748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Distribution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10003536" y="3291840"/>
            <a:ext cx="1600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P(every team,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position)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278892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→</a:t>
            </a:r>
            <a:endParaRPr lang="en-US" sz="2000" dirty="0"/>
          </a:p>
        </p:txBody>
      </p:sp>
      <p:sp>
        <p:nvSpPr>
          <p:cNvPr id="32" name="Shape 30"/>
          <p:cNvSpPr/>
          <p:nvPr/>
        </p:nvSpPr>
        <p:spPr>
          <a:xfrm>
            <a:off x="3291840" y="4572000"/>
            <a:ext cx="8321040" cy="1143000"/>
          </a:xfrm>
          <a:prstGeom prst="roundRect">
            <a:avLst>
              <a:gd name="adj" fmla="val 9600"/>
            </a:avLst>
          </a:prstGeom>
          <a:solidFill>
            <a:srgbClr val="18211D">
              <a:alpha val="7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520440" y="4572000"/>
            <a:ext cx="7863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current table never enters the probability model. </a:t>
            </a:r>
            <a:pPr indent="0" marL="0">
              <a:buNone/>
            </a:pPr>
            <a:r>
              <a:rPr lang="en-US" sz="1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It's the starting state: every simulated season begins from today's points and goal difference, and only the remaining fixtures are played out.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STEP 1 · THE MARKET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Betting odds are a forecast with a margin baked in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Aston Villa v Manchester City · 24 Oct · one UK bookmaker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57400"/>
          <a:ext cx="1106424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920240"/>
                <a:gridCol w="1920240"/>
                <a:gridCol w="1920240"/>
                <a:gridCol w="192024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Home</a:t>
                      </a:r>
                      <a:endParaRPr lang="en-US" sz="13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Draw</a:t>
                      </a:r>
                      <a:endParaRPr lang="en-US" sz="13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Away</a:t>
                      </a:r>
                      <a:endParaRPr lang="en-US" sz="13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Sum</a:t>
                      </a:r>
                      <a:endParaRPr lang="en-US" sz="13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Decimal odds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4.75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4.20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1.60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 / odds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21.1%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23.8%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62.5%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107.4%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b="1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De-vigged (÷ the sum)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19.6%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22.2%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58.2%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100%</a:t>
                      </a:r>
                      <a:endParaRPr lang="en-US" sz="18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526280"/>
            <a:ext cx="6675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They add up to 107.4%, not 100%. </a:t>
            </a:r>
            <a:pPr indent="0" marL="0">
              <a:buNone/>
            </a:pPr>
            <a:r>
              <a:rPr lang="en-US" sz="1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extra 7.4% is the bookmaker's margin (the “vig”). Averaged over ~12 bookmakers: 22% / 23% / 55%.</a:t>
            </a:r>
            <a:endParaRPr lang="en-US" sz="1400" dirty="0"/>
          </a:p>
        </p:txBody>
      </p:sp>
      <p:sp>
        <p:nvSpPr>
          <p:cNvPr id="7" name="code"/>
          <p:cNvSpPr/>
          <p:nvPr/>
        </p:nvSpPr>
        <p:spPr>
          <a:xfrm>
            <a:off x="548640" y="5120640"/>
            <a:ext cx="6675120" cy="1143000"/>
          </a:xfrm>
          <a:prstGeom prst="roundRect">
            <a:avLst>
              <a:gd name="adj" fmla="val 9600"/>
            </a:avLst>
          </a:prstGeom>
          <a:solidFill>
            <a:srgbClr val="0D1310">
              <a:alpha val="9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" y="52486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 / odds (sums to ~107%)  →  divide by the row sum  →  average the bookmakers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5532120"/>
            <a:ext cx="6263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raw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odds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FF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"home_odds"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FF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"draw_odds"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C8FF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"away_odds"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book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raw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div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raw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sum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axis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axis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market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book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groupby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odds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home_team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odds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away_team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]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mean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7406640" y="4526280"/>
            <a:ext cx="4206240" cy="1737360"/>
          </a:xfrm>
          <a:prstGeom prst="roundRect">
            <a:avLst>
              <a:gd name="adj" fmla="val 6316"/>
            </a:avLst>
          </a:prstGeom>
          <a:solidFill>
            <a:srgbClr val="0F2418">
              <a:alpha val="85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635240" y="4526280"/>
            <a:ext cx="3794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use the market at all? </a:t>
            </a:r>
            <a:pPr indent="0" marL="0">
              <a:buNone/>
            </a:pPr>
            <a:r>
              <a:rPr lang="en-US" sz="15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 prices in what a goals model can't see: injuries, team news, rotation.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STEP 2 · GOALS AS A COUNT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we can model goals with a Poisson distribution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493776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Goals are rare and arrive one at a time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over 90 minutes: close to the textbook Poisson setting (calls to a help desk, buses at a stop).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number gives the whole shape: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average rate λ. Know λ and you know P(0 goals), P(1), P(5)…</a:t>
            </a:r>
            <a:endParaRPr lang="en-US" sz="150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 approximation, not a law: </a:t>
            </a:r>
            <a:pPr indent="0" marL="0">
              <a:spcAft>
                <a:spcPts val="900"/>
              </a:spcAft>
              <a:buNone/>
            </a:pPr>
            <a:r>
              <a:rPr lang="en-US" sz="15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real goal counts are a little more spread out, and the two teams' goals are slightly linked. Close enough to build 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4937760" cy="1097280"/>
          </a:xfrm>
          <a:prstGeom prst="roundRect">
            <a:avLst>
              <a:gd name="adj" fmla="val 10000"/>
            </a:avLst>
          </a:prstGeom>
          <a:solidFill>
            <a:srgbClr val="0D1310">
              <a:alpha val="9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A3ADA8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P(k goals) = </a:t>
            </a:r>
            <a:pPr algn="ctr" indent="0" marL="0">
              <a:buNone/>
            </a:pPr>
            <a:r>
              <a:rPr lang="en-US" sz="2200" b="1" dirty="0">
                <a:solidFill>
                  <a:srgbClr val="3EE0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λ</a:t>
            </a:r>
            <a:pPr algn="ctr" indent="0" marL="0">
              <a:buNone/>
            </a:pPr>
            <a:r>
              <a:rPr lang="en-US" sz="2200" dirty="0">
                <a:solidFill>
                  <a:srgbClr val="F5F7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ᵏ · e</a:t>
            </a:r>
            <a:pPr algn="ctr" indent="0" marL="0">
              <a:buNone/>
            </a:pPr>
            <a:r>
              <a:rPr lang="en-US" sz="2200" b="1" baseline="30000" dirty="0">
                <a:solidFill>
                  <a:srgbClr val="3EE0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−λ</a:t>
            </a:r>
            <a:pPr algn="ctr" indent="0" marL="0">
              <a:buNone/>
            </a:pPr>
            <a:r>
              <a:rPr lang="en-US" sz="2200" dirty="0">
                <a:solidFill>
                  <a:srgbClr val="F5F7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/ k!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55778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Next step: estimate a λ for each team in each match. For Aston Villa v Manchester City: λ = 1.47 vs 1.9.</a:t>
            </a:r>
            <a:endParaRPr lang="en-US" sz="13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943600" y="1600200"/>
          <a:ext cx="56692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STEP 3 · TEAM RATINGS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 λ is built from four numbers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868680"/>
          </a:xfrm>
          <a:prstGeom prst="roundRect">
            <a:avLst>
              <a:gd name="adj" fmla="val 12632"/>
            </a:avLst>
          </a:prstGeom>
          <a:solidFill>
            <a:srgbClr val="0D1310">
              <a:alpha val="9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60020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EE0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λ</a:t>
            </a:r>
            <a:pPr algn="ctr" indent="0" marL="0">
              <a:buNone/>
            </a:pPr>
            <a:r>
              <a:rPr lang="en-US" sz="1800" baseline="-40000" dirty="0">
                <a:solidFill>
                  <a:srgbClr val="3EE0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</a:t>
            </a:r>
            <a:pPr algn="ctr" indent="0" marL="0">
              <a:buNone/>
            </a:pPr>
            <a:r>
              <a:rPr lang="en-US" sz="1800" dirty="0">
                <a:solidFill>
                  <a:srgbClr val="F5F7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=  league avg  ×  </a:t>
            </a:r>
            <a:pPr algn="ctr" indent="0" marL="0">
              <a:buNone/>
            </a:pPr>
            <a:r>
              <a:rPr lang="en-US" sz="1800" b="1" dirty="0">
                <a:solidFill>
                  <a:srgbClr val="C8FF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attack</a:t>
            </a:r>
            <a:pPr algn="ctr" indent="0" marL="0">
              <a:buNone/>
            </a:pPr>
            <a:r>
              <a:rPr lang="en-US" sz="1800" dirty="0">
                <a:solidFill>
                  <a:srgbClr val="F5F7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(home)  ×  </a:t>
            </a:r>
            <a:pPr algn="ctr" indent="0" marL="0">
              <a:buNone/>
            </a:pPr>
            <a:r>
              <a:rPr lang="en-US" sz="1800" b="1" dirty="0">
                <a:solidFill>
                  <a:srgbClr val="FF6A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defence</a:t>
            </a:r>
            <a:pPr algn="ctr" indent="0" marL="0">
              <a:buNone/>
            </a:pPr>
            <a:r>
              <a:rPr lang="en-US" sz="1800" dirty="0">
                <a:solidFill>
                  <a:srgbClr val="F5F7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(away)  ×  home adv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7889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WORKED EXAMPLE  ·  Manchester City away at Aston Villa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46120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291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F7F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1.39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069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league average goals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per team per game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2880360" y="3246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×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3429000" y="3246120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29000" y="3291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C8FF6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1.38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4069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Man City attack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(1.0 = average)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3246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×</a:t>
            </a:r>
            <a:endParaRPr lang="en-US" sz="3400" dirty="0"/>
          </a:p>
        </p:txBody>
      </p:sp>
      <p:sp>
        <p:nvSpPr>
          <p:cNvPr id="15" name="Shape 13"/>
          <p:cNvSpPr/>
          <p:nvPr/>
        </p:nvSpPr>
        <p:spPr>
          <a:xfrm>
            <a:off x="6309360" y="3246120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3291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6A2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1.00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0" y="4069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Aston Villa defence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(above 1 = leakier)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8641080" y="324612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=</a:t>
            </a:r>
            <a:endParaRPr lang="en-US" sz="3400" dirty="0"/>
          </a:p>
        </p:txBody>
      </p:sp>
      <p:sp>
        <p:nvSpPr>
          <p:cNvPr id="19" name="Shape 17"/>
          <p:cNvSpPr/>
          <p:nvPr/>
        </p:nvSpPr>
        <p:spPr>
          <a:xfrm>
            <a:off x="9189720" y="3246120"/>
            <a:ext cx="2331720" cy="1463040"/>
          </a:xfrm>
          <a:prstGeom prst="roundRect">
            <a:avLst>
              <a:gd name="adj" fmla="val 7500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89720" y="3291840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EE07A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1.90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406908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goals Man City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expect to score (λ)</a:t>
            </a:r>
            <a:endParaRPr lang="en-US" sz="1250" dirty="0"/>
          </a:p>
        </p:txBody>
      </p:sp>
      <p:sp>
        <p:nvSpPr>
          <p:cNvPr id="22" name="code"/>
          <p:cNvSpPr/>
          <p:nvPr/>
        </p:nvSpPr>
        <p:spPr>
          <a:xfrm>
            <a:off x="548640" y="4892040"/>
            <a:ext cx="11064240" cy="1371600"/>
          </a:xfrm>
          <a:prstGeom prst="roundRect">
            <a:avLst>
              <a:gd name="adj" fmla="val 8000"/>
            </a:avLst>
          </a:prstGeom>
          <a:solidFill>
            <a:srgbClr val="0D1310">
              <a:alpha val="9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020056"/>
            <a:ext cx="10607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condensed from 3_probabilities.py  ·  this season + last, recent games count up to 2×  ·  _w = weighted  ·  1.0 = average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777240" y="5303520"/>
            <a:ext cx="10652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linspace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matches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attack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goals_for_w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games_w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league_avg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defence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goals_against_w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games_w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league_avg</a:t>
            </a:r>
            <a:endParaRPr lang="en-US" sz="11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home_adv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exp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weighted_mean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home_goals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away_goals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</a:t>
            </a:r>
            <a:pPr indent="0" marL="0">
              <a:lnSpc>
                <a:spcPct val="112000"/>
              </a:lnSpc>
              <a:buNone/>
            </a:pPr>
            <a:r>
              <a:rPr lang="en-US" sz="1150" i="1" dirty="0">
                <a:solidFill>
                  <a:srgbClr val="7A8C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×1.35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STEP 4 · SMALL SAMPLES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 games in, how much should we trust a rating?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5257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5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Early-season ratings are noisy. 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lucky 4–0 swings a 7-game average enormously.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5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 pull every rating towards a sensible target, 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and fade the pull out as evidence arrives.</a:t>
            </a:r>
            <a:endParaRPr lang="en-US" sz="1450" dirty="0"/>
          </a:p>
          <a:p>
            <a:pPr marL="342900" indent="-342900">
              <a:spcAft>
                <a:spcPts val="900"/>
              </a:spcAft>
              <a:buSzPct val="100000"/>
              <a:buChar char="■"/>
            </a:pPr>
            <a:r>
              <a:rPr lang="en-US" sz="145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Two starting points. </a:t>
            </a:r>
            <a:pPr indent="0" marL="0">
              <a:spcAft>
                <a:spcPts val="900"/>
              </a:spcAft>
              <a:buNone/>
            </a:pPr>
            <a:r>
              <a:rPr lang="en-US" sz="14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Established teams keep 50% of their raw rating from day one (last season counts); promoted and relegated teams start at 10%. Both reach full trust at half a season: one game against every other team (19 in the Premier League).</a:t>
            </a:r>
            <a:endParaRPr lang="en-US" sz="1450" dirty="0"/>
          </a:p>
        </p:txBody>
      </p:sp>
      <p:sp>
        <p:nvSpPr>
          <p:cNvPr id="5" name="code"/>
          <p:cNvSpPr/>
          <p:nvPr/>
        </p:nvSpPr>
        <p:spPr>
          <a:xfrm>
            <a:off x="548640" y="4846320"/>
            <a:ext cx="5257800" cy="1417320"/>
          </a:xfrm>
          <a:prstGeom prst="roundRect">
            <a:avLst>
              <a:gd name="adj" fmla="val 7742"/>
            </a:avLst>
          </a:prstGeom>
          <a:solidFill>
            <a:srgbClr val="0D1310">
              <a:alpha val="9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4974336"/>
            <a:ext cx="4800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start: 0.5 established, 0.1 promoted  ·  target: 1.0 or the prior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525780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half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n_teams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050" i="1" dirty="0">
                <a:solidFill>
                  <a:srgbClr val="7A8C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19 in the PL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start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start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games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/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half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clip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upper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0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attack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target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trust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*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attack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-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target</a:t>
            </a:r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05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035040" y="1600200"/>
          <a:ext cx="55778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Shape 6"/>
          <p:cNvSpPr/>
          <p:nvPr/>
        </p:nvSpPr>
        <p:spPr>
          <a:xfrm>
            <a:off x="8991295" y="2111350"/>
            <a:ext cx="0" cy="2359152"/>
          </a:xfrm>
          <a:prstGeom prst="line">
            <a:avLst/>
          </a:prstGeom>
          <a:noFill/>
          <a:ln w="15875">
            <a:solidFill>
              <a:srgbClr val="8B9A92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9064447" y="410474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half season (19 games in the PL)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263640" y="5577840"/>
            <a:ext cx="5349240" cy="640080"/>
          </a:xfrm>
          <a:prstGeom prst="roundRect">
            <a:avLst>
              <a:gd name="adj" fmla="val 17143"/>
            </a:avLst>
          </a:prstGeom>
          <a:solidFill>
            <a:srgbClr val="0F2418">
              <a:alpha val="85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263640" y="5577840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Today (7 games): </a:t>
            </a:r>
            <a:pPr algn="ctr" indent="0" marL="0">
              <a:buNone/>
            </a:pPr>
            <a:r>
              <a:rPr lang="en-US" sz="14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established keep 68%</a:t>
            </a:r>
            <a:pPr algn="ctr" indent="0" marL="0">
              <a:buNone/>
            </a:pPr>
            <a:r>
              <a:rPr lang="en-US" sz="1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  ·  </a:t>
            </a:r>
            <a:pPr algn="ctr" indent="0" marL="0">
              <a:buNone/>
            </a:pPr>
            <a:r>
              <a:rPr lang="en-US" sz="1400" b="1" dirty="0">
                <a:solidFill>
                  <a:srgbClr val="FF6A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promoted 43%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STEP 5 · A SHARPER TARGET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Promoted teams aren't average, so don't shrink them to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440680" cy="3246120"/>
          </a:xfrm>
          <a:prstGeom prst="roundRect">
            <a:avLst>
              <a:gd name="adj" fmla="val 3380"/>
            </a:avLst>
          </a:prstGeom>
          <a:solidFill>
            <a:srgbClr val="0F2418">
              <a:alpha val="80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RELEGATED INTO A LEAGUE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075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3, into the 2025/26 Championship</a:t>
            </a:r>
            <a:endParaRPr lang="en-US" sz="1300" dirty="0"/>
          </a:p>
        </p:txBody>
      </p:sp>
      <p:sp>
        <p:nvSpPr>
          <p:cNvPr id="7" name="click1_0"/>
          <p:cNvSpPr txBox="1"/>
          <p:nvPr/>
        </p:nvSpPr>
        <p:spPr>
          <a:xfrm>
            <a:off x="82296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×1.22</a:t>
            </a:r>
            <a:endParaRPr lang="en-US" sz="4400" dirty="0"/>
          </a:p>
        </p:txBody>
      </p:sp>
      <p:sp>
        <p:nvSpPr>
          <p:cNvPr id="8" name="click1_1"/>
          <p:cNvSpPr txBox="1"/>
          <p:nvPr/>
        </p:nvSpPr>
        <p:spPr>
          <a:xfrm>
            <a:off x="82296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attack</a:t>
            </a:r>
            <a:endParaRPr lang="en-US" sz="1250" dirty="0"/>
          </a:p>
        </p:txBody>
      </p:sp>
      <p:sp>
        <p:nvSpPr>
          <p:cNvPr id="9" name="click1_2"/>
          <p:cNvSpPr txBox="1"/>
          <p:nvPr/>
        </p:nvSpPr>
        <p:spPr>
          <a:xfrm>
            <a:off x="329184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×0.95</a:t>
            </a:r>
            <a:endParaRPr lang="en-US" sz="4400" dirty="0"/>
          </a:p>
        </p:txBody>
      </p:sp>
      <p:sp>
        <p:nvSpPr>
          <p:cNvPr id="10" name="click1_3"/>
          <p:cNvSpPr txBox="1"/>
          <p:nvPr/>
        </p:nvSpPr>
        <p:spPr>
          <a:xfrm>
            <a:off x="329184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goals conceded</a:t>
            </a:r>
            <a:endParaRPr lang="en-US" sz="1250" dirty="0"/>
          </a:p>
        </p:txBody>
      </p:sp>
      <p:sp>
        <p:nvSpPr>
          <p:cNvPr id="11" name="click1_4"/>
          <p:cNvSpPr txBox="1"/>
          <p:nvPr/>
        </p:nvSpPr>
        <p:spPr>
          <a:xfrm>
            <a:off x="822960" y="3794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Ipswich and Southampton outscored the league average; Leicester didn't. Only 3 teams: a direction, not a precise number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172200" y="1645920"/>
            <a:ext cx="5440680" cy="3246120"/>
          </a:xfrm>
          <a:prstGeom prst="roundRect">
            <a:avLst>
              <a:gd name="adj" fmla="val 3380"/>
            </a:avLst>
          </a:prstGeom>
          <a:solidFill>
            <a:srgbClr val="2A1408">
              <a:alpha val="80000"/>
            </a:srgbClr>
          </a:solidFill>
          <a:ln w="12700">
            <a:solidFill>
              <a:srgbClr val="6B2E1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46520" y="17830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A2B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PROMOTED INTO A LEAGUE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46520" y="20756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 = 14, big-5 leagues, 2025/26</a:t>
            </a:r>
            <a:endParaRPr lang="en-US" sz="1300" dirty="0"/>
          </a:p>
        </p:txBody>
      </p:sp>
      <p:sp>
        <p:nvSpPr>
          <p:cNvPr id="15" name="click1_0"/>
          <p:cNvSpPr txBox="1"/>
          <p:nvPr/>
        </p:nvSpPr>
        <p:spPr>
          <a:xfrm>
            <a:off x="6446520" y="233172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6A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×0.81</a:t>
            </a:r>
            <a:endParaRPr lang="en-US" sz="4400" dirty="0"/>
          </a:p>
        </p:txBody>
      </p:sp>
      <p:sp>
        <p:nvSpPr>
          <p:cNvPr id="16" name="click1_1"/>
          <p:cNvSpPr txBox="1"/>
          <p:nvPr/>
        </p:nvSpPr>
        <p:spPr>
          <a:xfrm>
            <a:off x="6446520" y="31089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attack</a:t>
            </a:r>
            <a:endParaRPr lang="en-US" sz="1250" dirty="0"/>
          </a:p>
        </p:txBody>
      </p:sp>
      <p:sp>
        <p:nvSpPr>
          <p:cNvPr id="17" name="click1_2"/>
          <p:cNvSpPr txBox="1"/>
          <p:nvPr/>
        </p:nvSpPr>
        <p:spPr>
          <a:xfrm>
            <a:off x="8915400" y="233172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6A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×1.18</a:t>
            </a:r>
            <a:endParaRPr lang="en-US" sz="4400" dirty="0"/>
          </a:p>
        </p:txBody>
      </p:sp>
      <p:sp>
        <p:nvSpPr>
          <p:cNvPr id="18" name="click1_3"/>
          <p:cNvSpPr txBox="1"/>
          <p:nvPr/>
        </p:nvSpPr>
        <p:spPr>
          <a:xfrm>
            <a:off x="8915400" y="3108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goals conceded</a:t>
            </a:r>
            <a:endParaRPr lang="en-US" sz="1250" dirty="0"/>
          </a:p>
        </p:txBody>
      </p:sp>
      <p:sp>
        <p:nvSpPr>
          <p:cNvPr id="19" name="click1_4"/>
          <p:cNvSpPr txBox="1"/>
          <p:nvPr/>
        </p:nvSpPr>
        <p:spPr>
          <a:xfrm>
            <a:off x="6446520" y="3794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All 14 scored below their new league's average, and 12 of 14 conceded more</a:t>
            </a:r>
            <a:endParaRPr lang="en-US" sz="1400" dirty="0"/>
          </a:p>
        </p:txBody>
      </p:sp>
      <p:sp>
        <p:nvSpPr>
          <p:cNvPr id="20" name="click1_0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This season: </a:t>
            </a:r>
            <a:pPr indent="0" marL="0">
              <a:buNone/>
            </a:pPr>
            <a:r>
              <a:rPr lang="en-US" sz="1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Coventry City, Hull City, Ipswich Town started 2026/27 shrunk towards the promoted-team target, not the league average. Same shrinkage weight, sharper target.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STEP 6 · SCORELINES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From two rates to every possible scoreline</a:t>
            </a:r>
            <a:endParaRPr lang="en-US" sz="3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1206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548640"/>
                <a:gridCol w="548640"/>
                <a:gridCol w="548640"/>
                <a:gridCol w="548640"/>
                <a:gridCol w="548640"/>
                <a:gridCol w="548640"/>
                <a:gridCol w="54864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Villa ↓  Man City →</a:t>
                      </a:r>
                      <a:endParaRPr lang="en-US" sz="9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C4F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C4F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C4F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C4F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C4F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C4F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7CC4F0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D1CC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3.4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8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6.5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5A7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6.2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576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3.9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40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1.9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0.7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0.2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D1CC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5.0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60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0F0D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9.6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5716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B0F0D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9.1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759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5.8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536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2.8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5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1.0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0.3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1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D1CC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3.7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E3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7.0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7D4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6.7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C57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4.2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35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2.0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D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0.8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12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0.2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B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D1CC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1.8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332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3.4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D49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3.3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48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2.1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2C2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1.0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32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0.4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D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D1CC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0.7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31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1.3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B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1.2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A1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0.8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0.4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D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A92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&lt;0.1</a:t>
                      </a:r>
                      <a:endParaRPr lang="en-US" sz="9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D1CC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0.2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0.4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0.4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1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0.2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C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A92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&lt;0.1</a:t>
                      </a:r>
                      <a:endParaRPr lang="en-US" sz="9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A92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&lt;0.1</a:t>
                      </a:r>
                      <a:endParaRPr lang="en-US" sz="9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9D1CC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7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A92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&lt;0.1</a:t>
                      </a:r>
                      <a:endParaRPr lang="en-US" sz="9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A1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A92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&lt;0.1</a:t>
                      </a:r>
                      <a:endParaRPr lang="en-US" sz="9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A92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&lt;0.1</a:t>
                      </a:r>
                      <a:endParaRPr lang="en-US" sz="9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8B9A92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&lt;0.1</a:t>
                      </a:r>
                      <a:endParaRPr lang="en-US" sz="9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394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% chance of each exact score · rows: Aston Villa goals, columns: Man City goals</a:t>
            </a:r>
            <a:endParaRPr lang="en-US" sz="1100" dirty="0"/>
          </a:p>
        </p:txBody>
      </p:sp>
      <p:sp>
        <p:nvSpPr>
          <p:cNvPr id="6" name="code"/>
          <p:cNvSpPr/>
          <p:nvPr/>
        </p:nvSpPr>
        <p:spPr>
          <a:xfrm>
            <a:off x="5943600" y="1645920"/>
            <a:ext cx="5669280" cy="1325880"/>
          </a:xfrm>
          <a:prstGeom prst="roundRect">
            <a:avLst>
              <a:gd name="adj" fmla="val 8276"/>
            </a:avLst>
          </a:prstGeom>
          <a:solidFill>
            <a:srgbClr val="0D1310">
              <a:alpha val="9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172200" y="1773936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the whole grid in one line  ·  independence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2057400"/>
            <a:ext cx="5257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grid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outer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poisson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pmf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lam_home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poisson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pmf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range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5A6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lam_away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i="1" dirty="0">
                <a:solidFill>
                  <a:srgbClr val="7A8C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P(2–1) = P(home scores 2) × P(away scores 1)</a:t>
            </a:r>
            <a:endParaRPr lang="en-US" sz="1250" dirty="0"/>
          </a:p>
        </p:txBody>
      </p:sp>
      <p:graphicFrame>
        <p:nvGraphicFramePr>
          <p:cNvPr id="9" name="click1_0" descr=""/>
          <p:cNvGraphicFramePr/>
          <p:nvPr/>
        </p:nvGraphicFramePr>
        <p:xfrm>
          <a:off x="5852160" y="3154680"/>
          <a:ext cx="57607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STEP 7 · COMBINING FORECASTS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Market where it exists, model where it doesn't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83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311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60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Premier League fixtures left to simulate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3474720" cy="2103120"/>
          </a:xfrm>
          <a:prstGeom prst="roundRect">
            <a:avLst>
              <a:gd name="adj" fmla="val 5217"/>
            </a:avLst>
          </a:prstGeom>
          <a:solidFill>
            <a:srgbClr val="0F2418">
              <a:alpha val="85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069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6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21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84632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already priced by bookmakers (7%). The other 290 use the model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43400" y="1691640"/>
            <a:ext cx="7269480" cy="2103120"/>
          </a:xfrm>
          <a:prstGeom prst="roundRect">
            <a:avLst>
              <a:gd name="adj" fmla="val 5217"/>
            </a:avLst>
          </a:prstGeom>
          <a:solidFill>
            <a:srgbClr val="0F2418">
              <a:alpha val="85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0" y="1828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THE RULE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148840"/>
            <a:ext cx="68580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If bookmakers have priced the match, use their de-vigged probabilities. If not, use the model.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343400" y="3977640"/>
            <a:ext cx="7269480" cy="2103120"/>
          </a:xfrm>
          <a:prstGeom prst="roundRect">
            <a:avLst>
              <a:gd name="adj" fmla="val 5217"/>
            </a:avLst>
          </a:prstGeom>
          <a:solidFill>
            <a:srgbClr val="141B18">
              <a:alpha val="7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0" y="41148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2B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WHY A SIMPLE SWITCH?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0" y="4434840"/>
            <a:ext cx="6858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It's deliberate: transparent, easy to debug, and wherever the market has a price, it already knows more than a goals model.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03 · SIMULATING THE SEASON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10,000 seasons at once, in a tenth of a second</a:t>
            </a:r>
            <a:endParaRPr lang="en-US" sz="3000" dirty="0"/>
          </a:p>
        </p:txBody>
      </p:sp>
      <p:sp>
        <p:nvSpPr>
          <p:cNvPr id="4" name="code"/>
          <p:cNvSpPr/>
          <p:nvPr/>
        </p:nvSpPr>
        <p:spPr>
          <a:xfrm>
            <a:off x="548640" y="1600200"/>
            <a:ext cx="6766560" cy="2514600"/>
          </a:xfrm>
          <a:prstGeom prst="roundRect">
            <a:avLst>
              <a:gd name="adj" fmla="val 4364"/>
            </a:avLst>
          </a:prstGeom>
          <a:solidFill>
            <a:srgbClr val="0D1310">
              <a:alpha val="9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728216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run_simulations()  ·  4_simulations.py (simplified)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011680"/>
            <a:ext cx="635508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rng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random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0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_000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n_matches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7A8C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one draw per match, per season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result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p_home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        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where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&lt;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p_home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+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p_draw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DRAW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points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season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home_team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home_pts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7A8C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10,000 tables,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CC4F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np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add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.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points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(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season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away_team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,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away_pts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)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E3EAE6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i="1" dirty="0">
                <a:solidFill>
                  <a:srgbClr val="7A8C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all at once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4251960"/>
            <a:ext cx="6766560" cy="1645920"/>
          </a:xfrm>
          <a:prstGeom prst="roundRect">
            <a:avLst>
              <a:gd name="adj" fmla="val 6667"/>
            </a:avLst>
          </a:prstGeom>
          <a:solidFill>
            <a:srgbClr val="0F2418">
              <a:alpha val="85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4251960"/>
            <a:ext cx="6217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3.1M matches in 0.08s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502920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10,000 seasons × 311 fixtures. The original season-by-season loop took ~3 minutes per league.</a:t>
            </a:r>
            <a:endParaRPr lang="en-US" sz="125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7543800" y="1600200"/>
          <a:ext cx="406908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 txBox="1"/>
          <p:nvPr/>
        </p:nvSpPr>
        <p:spPr>
          <a:xfrm>
            <a:off x="7543800" y="5257800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Noise shrinks with 1/√n: 4× the runs only halves it. At 10,000, any probability wobbles by about ±0.5 points at most.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THE DELIVERABLE · AS OF 19 OCTOBER 2026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Premier League 2026/27: every team, every position</a:t>
            </a:r>
            <a:endParaRPr lang="en-US" sz="3000" dirty="0"/>
          </a:p>
        </p:txBody>
      </p:sp>
      <p:pic>
        <p:nvPicPr>
          <p:cNvPr id="4" name="Image 0" descr="Premier League table from the live dashboard: each team's chance of finishing in every position">
            <a:hlinkClick r:id="rId2" tooltip="Open the live dashboard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74520"/>
            <a:ext cx="9491472" cy="337234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48640" y="538402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Straight from the live dashboard: % chance of finishing in each position, from 10,000 simulated seasons. </a:t>
            </a:r>
            <a:pPr indent="0" marL="0">
              <a:buNone/>
            </a:pPr>
            <a:r>
              <a:rPr lang="en-US" sz="1100" u="sng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3" invalidUrl="" action="" tgtFrame="" tooltip="Open the live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football-league-simulator.streamlit.app</a:t>
            </a:r>
            <a:endParaRPr lang="en-US" sz="1100" dirty="0"/>
          </a:p>
        </p:txBody>
      </p:sp>
      <p:sp>
        <p:nvSpPr>
          <p:cNvPr id="6" name="click1_0"/>
          <p:cNvSpPr/>
          <p:nvPr/>
        </p:nvSpPr>
        <p:spPr>
          <a:xfrm>
            <a:off x="2523482" y="1970940"/>
            <a:ext cx="1480103" cy="3100500"/>
          </a:xfrm>
          <a:prstGeom prst="rect">
            <a:avLst/>
          </a:prstGeom>
          <a:ln w="28575">
            <a:solidFill>
              <a:srgbClr val="3EE07A"/>
            </a:solidFill>
            <a:prstDash val="solid"/>
          </a:ln>
        </p:spPr>
      </p:sp>
      <p:sp>
        <p:nvSpPr>
          <p:cNvPr id="7" name="click1_1"/>
          <p:cNvSpPr txBox="1"/>
          <p:nvPr/>
        </p:nvSpPr>
        <p:spPr>
          <a:xfrm>
            <a:off x="2066282" y="1581912"/>
            <a:ext cx="2394503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1st + 2nd + 3rd + 4th  →</a:t>
            </a:r>
            <a:endParaRPr lang="en-US" sz="1100" dirty="0"/>
          </a:p>
        </p:txBody>
      </p:sp>
      <p:sp>
        <p:nvSpPr>
          <p:cNvPr id="8" name="click1_2"/>
          <p:cNvSpPr/>
          <p:nvPr/>
        </p:nvSpPr>
        <p:spPr>
          <a:xfrm>
            <a:off x="10113264" y="1970940"/>
            <a:ext cx="713232" cy="3100500"/>
          </a:xfrm>
          <a:prstGeom prst="rect">
            <a:avLst/>
          </a:prstGeom>
          <a:solidFill>
            <a:srgbClr val="E6F6EC"/>
          </a:solidFill>
          <a:ln w="28575">
            <a:solidFill>
              <a:srgbClr val="3EE07A"/>
            </a:solidFill>
            <a:prstDash val="solid"/>
          </a:ln>
        </p:spPr>
      </p:sp>
      <p:sp>
        <p:nvSpPr>
          <p:cNvPr id="9" name="click1_3"/>
          <p:cNvSpPr txBox="1"/>
          <p:nvPr/>
        </p:nvSpPr>
        <p:spPr>
          <a:xfrm>
            <a:off x="10113264" y="1970940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E7A45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TOP 4</a:t>
            </a:r>
            <a:endParaRPr lang="en-US" sz="750" dirty="0"/>
          </a:p>
        </p:txBody>
      </p:sp>
      <p:sp>
        <p:nvSpPr>
          <p:cNvPr id="10" name="click1_4"/>
          <p:cNvSpPr txBox="1"/>
          <p:nvPr/>
        </p:nvSpPr>
        <p:spPr>
          <a:xfrm>
            <a:off x="10113264" y="2118583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99.5%</a:t>
            </a:r>
            <a:endParaRPr lang="en-US" sz="800" dirty="0"/>
          </a:p>
        </p:txBody>
      </p:sp>
      <p:sp>
        <p:nvSpPr>
          <p:cNvPr id="11" name="click1_5"/>
          <p:cNvSpPr txBox="1"/>
          <p:nvPr/>
        </p:nvSpPr>
        <p:spPr>
          <a:xfrm>
            <a:off x="10113264" y="2266225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98.5%</a:t>
            </a:r>
            <a:endParaRPr lang="en-US" sz="800" dirty="0"/>
          </a:p>
        </p:txBody>
      </p:sp>
      <p:sp>
        <p:nvSpPr>
          <p:cNvPr id="12" name="click1_6"/>
          <p:cNvSpPr txBox="1"/>
          <p:nvPr/>
        </p:nvSpPr>
        <p:spPr>
          <a:xfrm>
            <a:off x="10113264" y="2413868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80.9%</a:t>
            </a:r>
            <a:endParaRPr lang="en-US" sz="800" dirty="0"/>
          </a:p>
        </p:txBody>
      </p:sp>
      <p:sp>
        <p:nvSpPr>
          <p:cNvPr id="13" name="click1_7"/>
          <p:cNvSpPr txBox="1"/>
          <p:nvPr/>
        </p:nvSpPr>
        <p:spPr>
          <a:xfrm>
            <a:off x="10113264" y="2561511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31.0%</a:t>
            </a:r>
            <a:endParaRPr lang="en-US" sz="800" dirty="0"/>
          </a:p>
        </p:txBody>
      </p:sp>
      <p:sp>
        <p:nvSpPr>
          <p:cNvPr id="14" name="click1_8"/>
          <p:cNvSpPr txBox="1"/>
          <p:nvPr/>
        </p:nvSpPr>
        <p:spPr>
          <a:xfrm>
            <a:off x="10113264" y="2709154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28.6%</a:t>
            </a:r>
            <a:endParaRPr lang="en-US" sz="800" dirty="0"/>
          </a:p>
        </p:txBody>
      </p:sp>
      <p:sp>
        <p:nvSpPr>
          <p:cNvPr id="15" name="click1_9"/>
          <p:cNvSpPr txBox="1"/>
          <p:nvPr/>
        </p:nvSpPr>
        <p:spPr>
          <a:xfrm>
            <a:off x="10113264" y="2856797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17.7%</a:t>
            </a:r>
            <a:endParaRPr lang="en-US" sz="800" dirty="0"/>
          </a:p>
        </p:txBody>
      </p:sp>
      <p:sp>
        <p:nvSpPr>
          <p:cNvPr id="16" name="click1_10"/>
          <p:cNvSpPr txBox="1"/>
          <p:nvPr/>
        </p:nvSpPr>
        <p:spPr>
          <a:xfrm>
            <a:off x="10113264" y="3004440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8.7%</a:t>
            </a:r>
            <a:endParaRPr lang="en-US" sz="800" dirty="0"/>
          </a:p>
        </p:txBody>
      </p:sp>
      <p:sp>
        <p:nvSpPr>
          <p:cNvPr id="17" name="click1_11"/>
          <p:cNvSpPr txBox="1"/>
          <p:nvPr/>
        </p:nvSpPr>
        <p:spPr>
          <a:xfrm>
            <a:off x="10113264" y="3152082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4.7%</a:t>
            </a:r>
            <a:endParaRPr lang="en-US" sz="800" dirty="0"/>
          </a:p>
        </p:txBody>
      </p:sp>
      <p:sp>
        <p:nvSpPr>
          <p:cNvPr id="18" name="click1_12"/>
          <p:cNvSpPr txBox="1"/>
          <p:nvPr/>
        </p:nvSpPr>
        <p:spPr>
          <a:xfrm>
            <a:off x="10113264" y="3299725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0.6%</a:t>
            </a:r>
            <a:endParaRPr lang="en-US" sz="800" dirty="0"/>
          </a:p>
        </p:txBody>
      </p:sp>
      <p:sp>
        <p:nvSpPr>
          <p:cNvPr id="19" name="click1_13"/>
          <p:cNvSpPr txBox="1"/>
          <p:nvPr/>
        </p:nvSpPr>
        <p:spPr>
          <a:xfrm>
            <a:off x="10113264" y="3447368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0.1%</a:t>
            </a:r>
            <a:endParaRPr lang="en-US" sz="800" dirty="0"/>
          </a:p>
        </p:txBody>
      </p:sp>
      <p:sp>
        <p:nvSpPr>
          <p:cNvPr id="20" name="click1_14"/>
          <p:cNvSpPr txBox="1"/>
          <p:nvPr/>
        </p:nvSpPr>
        <p:spPr>
          <a:xfrm>
            <a:off x="10113264" y="3595011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1.8%</a:t>
            </a:r>
            <a:endParaRPr lang="en-US" sz="800" dirty="0"/>
          </a:p>
        </p:txBody>
      </p:sp>
      <p:sp>
        <p:nvSpPr>
          <p:cNvPr id="21" name="click1_15"/>
          <p:cNvSpPr txBox="1"/>
          <p:nvPr/>
        </p:nvSpPr>
        <p:spPr>
          <a:xfrm>
            <a:off x="10113264" y="3742654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5.5%</a:t>
            </a:r>
            <a:endParaRPr lang="en-US" sz="800" dirty="0"/>
          </a:p>
        </p:txBody>
      </p:sp>
      <p:sp>
        <p:nvSpPr>
          <p:cNvPr id="22" name="click1_16"/>
          <p:cNvSpPr txBox="1"/>
          <p:nvPr/>
        </p:nvSpPr>
        <p:spPr>
          <a:xfrm>
            <a:off x="10113264" y="3890297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17.5%</a:t>
            </a:r>
            <a:endParaRPr lang="en-US" sz="800" dirty="0"/>
          </a:p>
        </p:txBody>
      </p:sp>
      <p:sp>
        <p:nvSpPr>
          <p:cNvPr id="23" name="click1_17"/>
          <p:cNvSpPr txBox="1"/>
          <p:nvPr/>
        </p:nvSpPr>
        <p:spPr>
          <a:xfrm>
            <a:off x="10113264" y="4037939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0.2%</a:t>
            </a:r>
            <a:endParaRPr lang="en-US" sz="800" dirty="0"/>
          </a:p>
        </p:txBody>
      </p:sp>
      <p:sp>
        <p:nvSpPr>
          <p:cNvPr id="24" name="click1_18"/>
          <p:cNvSpPr txBox="1"/>
          <p:nvPr/>
        </p:nvSpPr>
        <p:spPr>
          <a:xfrm>
            <a:off x="10113264" y="4185582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2.6%</a:t>
            </a:r>
            <a:endParaRPr lang="en-US" sz="800" dirty="0"/>
          </a:p>
        </p:txBody>
      </p:sp>
      <p:sp>
        <p:nvSpPr>
          <p:cNvPr id="25" name="click1_19"/>
          <p:cNvSpPr txBox="1"/>
          <p:nvPr/>
        </p:nvSpPr>
        <p:spPr>
          <a:xfrm>
            <a:off x="10113264" y="4333225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0.0%</a:t>
            </a:r>
            <a:endParaRPr lang="en-US" sz="800" dirty="0"/>
          </a:p>
        </p:txBody>
      </p:sp>
      <p:sp>
        <p:nvSpPr>
          <p:cNvPr id="26" name="click1_20"/>
          <p:cNvSpPr txBox="1"/>
          <p:nvPr/>
        </p:nvSpPr>
        <p:spPr>
          <a:xfrm>
            <a:off x="10113264" y="4480868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0.7%</a:t>
            </a:r>
            <a:endParaRPr lang="en-US" sz="800" dirty="0"/>
          </a:p>
        </p:txBody>
      </p:sp>
      <p:sp>
        <p:nvSpPr>
          <p:cNvPr id="27" name="click1_21"/>
          <p:cNvSpPr txBox="1"/>
          <p:nvPr/>
        </p:nvSpPr>
        <p:spPr>
          <a:xfrm>
            <a:off x="10113264" y="4628511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0.9%</a:t>
            </a:r>
            <a:endParaRPr lang="en-US" sz="800" dirty="0"/>
          </a:p>
        </p:txBody>
      </p:sp>
      <p:sp>
        <p:nvSpPr>
          <p:cNvPr id="28" name="click1_22"/>
          <p:cNvSpPr txBox="1"/>
          <p:nvPr/>
        </p:nvSpPr>
        <p:spPr>
          <a:xfrm>
            <a:off x="10113264" y="4776154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0.2%</a:t>
            </a:r>
            <a:endParaRPr lang="en-US" sz="800" dirty="0"/>
          </a:p>
        </p:txBody>
      </p:sp>
      <p:sp>
        <p:nvSpPr>
          <p:cNvPr id="29" name="click1_23"/>
          <p:cNvSpPr txBox="1"/>
          <p:nvPr/>
        </p:nvSpPr>
        <p:spPr>
          <a:xfrm>
            <a:off x="10113264" y="4923796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E7A45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0.2%</a:t>
            </a:r>
            <a:endParaRPr lang="en-US" sz="800" dirty="0"/>
          </a:p>
        </p:txBody>
      </p:sp>
      <p:sp>
        <p:nvSpPr>
          <p:cNvPr id="30" name="click2_0"/>
          <p:cNvSpPr/>
          <p:nvPr/>
        </p:nvSpPr>
        <p:spPr>
          <a:xfrm>
            <a:off x="8813920" y="1970940"/>
            <a:ext cx="1110959" cy="3100500"/>
          </a:xfrm>
          <a:prstGeom prst="rect">
            <a:avLst/>
          </a:prstGeom>
          <a:ln w="28575">
            <a:solidFill>
              <a:srgbClr val="FF6A2B"/>
            </a:solidFill>
            <a:prstDash val="solid"/>
          </a:ln>
        </p:spPr>
      </p:sp>
      <p:sp>
        <p:nvSpPr>
          <p:cNvPr id="31" name="click2_1"/>
          <p:cNvSpPr txBox="1"/>
          <p:nvPr/>
        </p:nvSpPr>
        <p:spPr>
          <a:xfrm>
            <a:off x="8356720" y="1581912"/>
            <a:ext cx="202535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A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18th + 19th + 20th  →</a:t>
            </a:r>
            <a:endParaRPr lang="en-US" sz="1100" dirty="0"/>
          </a:p>
        </p:txBody>
      </p:sp>
      <p:sp>
        <p:nvSpPr>
          <p:cNvPr id="32" name="click2_2"/>
          <p:cNvSpPr/>
          <p:nvPr/>
        </p:nvSpPr>
        <p:spPr>
          <a:xfrm>
            <a:off x="10899648" y="1970940"/>
            <a:ext cx="713232" cy="3100500"/>
          </a:xfrm>
          <a:prstGeom prst="rect">
            <a:avLst/>
          </a:prstGeom>
          <a:solidFill>
            <a:srgbClr val="FDEDE3"/>
          </a:solidFill>
          <a:ln w="28575">
            <a:solidFill>
              <a:srgbClr val="FF6A2B"/>
            </a:solidFill>
            <a:prstDash val="solid"/>
          </a:ln>
        </p:spPr>
      </p:sp>
      <p:sp>
        <p:nvSpPr>
          <p:cNvPr id="33" name="click2_3"/>
          <p:cNvSpPr txBox="1"/>
          <p:nvPr/>
        </p:nvSpPr>
        <p:spPr>
          <a:xfrm>
            <a:off x="10899648" y="1970940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A8471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BOTTOM 3</a:t>
            </a:r>
            <a:endParaRPr lang="en-US" sz="750" dirty="0"/>
          </a:p>
        </p:txBody>
      </p:sp>
      <p:sp>
        <p:nvSpPr>
          <p:cNvPr id="34" name="click2_4"/>
          <p:cNvSpPr txBox="1"/>
          <p:nvPr/>
        </p:nvSpPr>
        <p:spPr>
          <a:xfrm>
            <a:off x="10899648" y="2118583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0.0%</a:t>
            </a:r>
            <a:endParaRPr lang="en-US" sz="800" dirty="0"/>
          </a:p>
        </p:txBody>
      </p:sp>
      <p:sp>
        <p:nvSpPr>
          <p:cNvPr id="35" name="click2_5"/>
          <p:cNvSpPr txBox="1"/>
          <p:nvPr/>
        </p:nvSpPr>
        <p:spPr>
          <a:xfrm>
            <a:off x="10899648" y="2266225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0.0%</a:t>
            </a:r>
            <a:endParaRPr lang="en-US" sz="800" dirty="0"/>
          </a:p>
        </p:txBody>
      </p:sp>
      <p:sp>
        <p:nvSpPr>
          <p:cNvPr id="36" name="click2_6"/>
          <p:cNvSpPr txBox="1"/>
          <p:nvPr/>
        </p:nvSpPr>
        <p:spPr>
          <a:xfrm>
            <a:off x="10899648" y="2413868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0.0%</a:t>
            </a:r>
            <a:endParaRPr lang="en-US" sz="800" dirty="0"/>
          </a:p>
        </p:txBody>
      </p:sp>
      <p:sp>
        <p:nvSpPr>
          <p:cNvPr id="37" name="click2_7"/>
          <p:cNvSpPr txBox="1"/>
          <p:nvPr/>
        </p:nvSpPr>
        <p:spPr>
          <a:xfrm>
            <a:off x="10899648" y="2561511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0.3%</a:t>
            </a:r>
            <a:endParaRPr lang="en-US" sz="800" dirty="0"/>
          </a:p>
        </p:txBody>
      </p:sp>
      <p:sp>
        <p:nvSpPr>
          <p:cNvPr id="38" name="click2_8"/>
          <p:cNvSpPr txBox="1"/>
          <p:nvPr/>
        </p:nvSpPr>
        <p:spPr>
          <a:xfrm>
            <a:off x="10899648" y="2709154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0.2%</a:t>
            </a:r>
            <a:endParaRPr lang="en-US" sz="800" dirty="0"/>
          </a:p>
        </p:txBody>
      </p:sp>
      <p:sp>
        <p:nvSpPr>
          <p:cNvPr id="39" name="click2_9"/>
          <p:cNvSpPr txBox="1"/>
          <p:nvPr/>
        </p:nvSpPr>
        <p:spPr>
          <a:xfrm>
            <a:off x="10899648" y="2856797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0.7%</a:t>
            </a:r>
            <a:endParaRPr lang="en-US" sz="800" dirty="0"/>
          </a:p>
        </p:txBody>
      </p:sp>
      <p:sp>
        <p:nvSpPr>
          <p:cNvPr id="40" name="click2_10"/>
          <p:cNvSpPr txBox="1"/>
          <p:nvPr/>
        </p:nvSpPr>
        <p:spPr>
          <a:xfrm>
            <a:off x="10899648" y="3004440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2.2%</a:t>
            </a:r>
            <a:endParaRPr lang="en-US" sz="800" dirty="0"/>
          </a:p>
        </p:txBody>
      </p:sp>
      <p:sp>
        <p:nvSpPr>
          <p:cNvPr id="41" name="click2_11"/>
          <p:cNvSpPr txBox="1"/>
          <p:nvPr/>
        </p:nvSpPr>
        <p:spPr>
          <a:xfrm>
            <a:off x="10899648" y="3152082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4.4%</a:t>
            </a:r>
            <a:endParaRPr lang="en-US" sz="800" dirty="0"/>
          </a:p>
        </p:txBody>
      </p:sp>
      <p:sp>
        <p:nvSpPr>
          <p:cNvPr id="42" name="click2_12"/>
          <p:cNvSpPr txBox="1"/>
          <p:nvPr/>
        </p:nvSpPr>
        <p:spPr>
          <a:xfrm>
            <a:off x="10899648" y="3299725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17.6%</a:t>
            </a:r>
            <a:endParaRPr lang="en-US" sz="800" dirty="0"/>
          </a:p>
        </p:txBody>
      </p:sp>
      <p:sp>
        <p:nvSpPr>
          <p:cNvPr id="43" name="click2_13"/>
          <p:cNvSpPr txBox="1"/>
          <p:nvPr/>
        </p:nvSpPr>
        <p:spPr>
          <a:xfrm>
            <a:off x="10899648" y="3447368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33.7%</a:t>
            </a:r>
            <a:endParaRPr lang="en-US" sz="800" dirty="0"/>
          </a:p>
        </p:txBody>
      </p:sp>
      <p:sp>
        <p:nvSpPr>
          <p:cNvPr id="44" name="click2_14"/>
          <p:cNvSpPr txBox="1"/>
          <p:nvPr/>
        </p:nvSpPr>
        <p:spPr>
          <a:xfrm>
            <a:off x="10899648" y="3595011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10.9%</a:t>
            </a:r>
            <a:endParaRPr lang="en-US" sz="800" dirty="0"/>
          </a:p>
        </p:txBody>
      </p:sp>
      <p:sp>
        <p:nvSpPr>
          <p:cNvPr id="45" name="click2_15"/>
          <p:cNvSpPr txBox="1"/>
          <p:nvPr/>
        </p:nvSpPr>
        <p:spPr>
          <a:xfrm>
            <a:off x="10899648" y="3742654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3.9%</a:t>
            </a:r>
            <a:endParaRPr lang="en-US" sz="800" dirty="0"/>
          </a:p>
        </p:txBody>
      </p:sp>
      <p:sp>
        <p:nvSpPr>
          <p:cNvPr id="46" name="click2_16"/>
          <p:cNvSpPr txBox="1"/>
          <p:nvPr/>
        </p:nvSpPr>
        <p:spPr>
          <a:xfrm>
            <a:off x="10899648" y="3890297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0.7%</a:t>
            </a:r>
            <a:endParaRPr lang="en-US" sz="800" dirty="0"/>
          </a:p>
        </p:txBody>
      </p:sp>
      <p:sp>
        <p:nvSpPr>
          <p:cNvPr id="47" name="click2_17"/>
          <p:cNvSpPr txBox="1"/>
          <p:nvPr/>
        </p:nvSpPr>
        <p:spPr>
          <a:xfrm>
            <a:off x="10899648" y="4037939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34.1%</a:t>
            </a:r>
            <a:endParaRPr lang="en-US" sz="800" dirty="0"/>
          </a:p>
        </p:txBody>
      </p:sp>
      <p:sp>
        <p:nvSpPr>
          <p:cNvPr id="48" name="click2_18"/>
          <p:cNvSpPr txBox="1"/>
          <p:nvPr/>
        </p:nvSpPr>
        <p:spPr>
          <a:xfrm>
            <a:off x="10899648" y="4185582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7.2%</a:t>
            </a:r>
            <a:endParaRPr lang="en-US" sz="800" dirty="0"/>
          </a:p>
        </p:txBody>
      </p:sp>
      <p:sp>
        <p:nvSpPr>
          <p:cNvPr id="49" name="click2_19"/>
          <p:cNvSpPr txBox="1"/>
          <p:nvPr/>
        </p:nvSpPr>
        <p:spPr>
          <a:xfrm>
            <a:off x="10899648" y="4333225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72.6%</a:t>
            </a:r>
            <a:endParaRPr lang="en-US" sz="800" dirty="0"/>
          </a:p>
        </p:txBody>
      </p:sp>
      <p:sp>
        <p:nvSpPr>
          <p:cNvPr id="50" name="click2_20"/>
          <p:cNvSpPr txBox="1"/>
          <p:nvPr/>
        </p:nvSpPr>
        <p:spPr>
          <a:xfrm>
            <a:off x="10899648" y="4480868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19.8%</a:t>
            </a:r>
            <a:endParaRPr lang="en-US" sz="800" dirty="0"/>
          </a:p>
        </p:txBody>
      </p:sp>
      <p:sp>
        <p:nvSpPr>
          <p:cNvPr id="51" name="click2_21"/>
          <p:cNvSpPr txBox="1"/>
          <p:nvPr/>
        </p:nvSpPr>
        <p:spPr>
          <a:xfrm>
            <a:off x="10899648" y="4628511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15.5%</a:t>
            </a:r>
            <a:endParaRPr lang="en-US" sz="800" dirty="0"/>
          </a:p>
        </p:txBody>
      </p:sp>
      <p:sp>
        <p:nvSpPr>
          <p:cNvPr id="52" name="click2_22"/>
          <p:cNvSpPr txBox="1"/>
          <p:nvPr/>
        </p:nvSpPr>
        <p:spPr>
          <a:xfrm>
            <a:off x="10899648" y="4776154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36.6%</a:t>
            </a:r>
            <a:endParaRPr lang="en-US" sz="800" dirty="0"/>
          </a:p>
        </p:txBody>
      </p:sp>
      <p:sp>
        <p:nvSpPr>
          <p:cNvPr id="53" name="click2_23"/>
          <p:cNvSpPr txBox="1"/>
          <p:nvPr/>
        </p:nvSpPr>
        <p:spPr>
          <a:xfrm>
            <a:off x="10899648" y="4923796"/>
            <a:ext cx="713232" cy="147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8471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39.4%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4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4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4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4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4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7" dur="4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THE TABLE VS THE MODEL · AS OF 19 OCTOBER 2026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Championship 2026/27: every team, every position</a:t>
            </a:r>
            <a:endParaRPr lang="en-US" sz="3000" dirty="0"/>
          </a:p>
        </p:txBody>
      </p:sp>
      <p:pic>
        <p:nvPicPr>
          <p:cNvPr id="4" name="Image 0" descr="Championship table from the live dashboard: each team's chance of finishing in every position">
            <a:hlinkClick r:id="rId2" tooltip="Open the live dashboard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64240" cy="4019021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5583" y="2746883"/>
            <a:ext cx="10830354" cy="149833"/>
          </a:xfrm>
          <a:prstGeom prst="rect">
            <a:avLst/>
          </a:prstGeom>
          <a:ln w="28575">
            <a:solidFill>
              <a:srgbClr val="FF6A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5756381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Straight from the live dashboard: % chance of finishing in each position, from 10,000 simulated seasons. </a:t>
            </a:r>
            <a:pPr indent="0" marL="0">
              <a:buNone/>
            </a:pPr>
            <a:r>
              <a:rPr lang="en-US" sz="1100" u="sng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3" invalidUrl="" action="" tgtFrame="" tooltip="Open the live dashboard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football-league-simulator.streamlit.app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THE TABLE VS THE MODEL · AS OF 19 OCTOBER 2026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Southampton: 7th in the table, #2 on the ratings</a:t>
            </a:r>
            <a:endParaRPr lang="en-US" sz="30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39319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2103120"/>
                <a:gridCol w="411480"/>
                <a:gridCol w="502920"/>
                <a:gridCol w="548640"/>
              </a:tblGrid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#</a:t>
                      </a:r>
                      <a:endParaRPr lang="en-US" sz="9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Team</a:t>
                      </a:r>
                      <a:endParaRPr lang="en-US" sz="9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GP</a:t>
                      </a:r>
                      <a:endParaRPr lang="en-US" sz="9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GD</a:t>
                      </a:r>
                      <a:endParaRPr lang="en-US" sz="9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Pts</a:t>
                      </a:r>
                      <a:endParaRPr lang="en-US" sz="9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Swansea City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+8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23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West Ham United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+18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22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322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Middlesbrough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+6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22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Birmingham City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+9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West Bromwich Albion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+3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Stoke City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+2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19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41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B0F0D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A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0B0F0D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Southampton  (−4)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B0F0D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0B0F0D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A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B0F0D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17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A2B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8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Wolves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+3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17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9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Queens Park Rangers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+3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17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Blackburn Rovers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15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Sheffield United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15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12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Millwall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15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13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Portsmouth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Wrexham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15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Bolton Wanderers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-3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16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Bristol City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-3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17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Charlton Athletic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-5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18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Lincoln City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-10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12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19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Cardiff City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+1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Watford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-9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Norwich City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9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22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Burnley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-5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8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23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Derby County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Preston North End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-15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</a:t>
                      </a:r>
                      <a:endParaRPr lang="en-US" sz="8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6089904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56F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Dark green: automatic promotion · lighter: play-offs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4846320" y="1463040"/>
            <a:ext cx="2133600" cy="1417320"/>
          </a:xfrm>
          <a:prstGeom prst="roundRect">
            <a:avLst>
              <a:gd name="adj" fmla="val 7742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0" y="148132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FF6A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7th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2093976"/>
            <a:ext cx="181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the table: 6W 3D 2L = 21 pts, minus 4 = 17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162800" y="1463040"/>
            <a:ext cx="2133600" cy="1417320"/>
          </a:xfrm>
          <a:prstGeom prst="roundRect">
            <a:avLst>
              <a:gd name="adj" fmla="val 7742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45680" y="148132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#2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7345680" y="2093976"/>
            <a:ext cx="181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 the ratings (attack minus defence), with the 2nd-best GD: +11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9479280" y="1463040"/>
            <a:ext cx="2133600" cy="1417320"/>
          </a:xfrm>
          <a:prstGeom prst="roundRect">
            <a:avLst>
              <a:gd name="adj" fmla="val 7742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62160" y="1481328"/>
            <a:ext cx="1813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2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2nd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9662160" y="2093976"/>
            <a:ext cx="1813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most likely finish: 82% chance of the top six</a:t>
            </a:r>
            <a:endParaRPr lang="en-US" sz="1250" dirty="0"/>
          </a:p>
        </p:txBody>
      </p:sp>
      <p:graphicFrame>
        <p:nvGraphicFramePr>
          <p:cNvPr id="15" name="click1_0" descr=""/>
          <p:cNvGraphicFramePr/>
          <p:nvPr/>
        </p:nvGraphicFramePr>
        <p:xfrm>
          <a:off x="4754880" y="3017520"/>
          <a:ext cx="685800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click1_1"/>
          <p:cNvSpPr/>
          <p:nvPr/>
        </p:nvSpPr>
        <p:spPr>
          <a:xfrm>
            <a:off x="4846320" y="5486400"/>
            <a:ext cx="6766560" cy="777240"/>
          </a:xfrm>
          <a:prstGeom prst="roundRect">
            <a:avLst>
              <a:gd name="adj" fmla="val 14118"/>
            </a:avLst>
          </a:prstGeom>
          <a:solidFill>
            <a:srgbClr val="0F2418">
              <a:alpha val="85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17" name="click1_2"/>
          <p:cNvSpPr txBox="1"/>
          <p:nvPr/>
        </p:nvSpPr>
        <p:spPr>
          <a:xfrm>
            <a:off x="5074920" y="5486400"/>
            <a:ext cx="6309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deduction costs them 17 percentage points of automatic-promotion chance: </a:t>
            </a:r>
            <a:pPr indent="0" marL="0">
              <a:buNone/>
            </a:pPr>
            <a:r>
              <a:rPr lang="en-US" sz="13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44% → 27%. The ratings ignore it; it lives in the starting table.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THE TABLE VS THE MODEL · CHAMPIONSHIP · AS OF 19 OCTOBER 2026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Swansea City: top of the table, 1.9% to win it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852160" cy="914400"/>
        </p:xfrm>
        <a:graphic>
          <a:graphicData uri="http://schemas.openxmlformats.org/drawingml/2006/table">
            <a:tbl>
              <a:tblPr/>
              <a:tblGrid>
                <a:gridCol w="411480"/>
                <a:gridCol w="2194560"/>
                <a:gridCol w="502920"/>
                <a:gridCol w="594360"/>
                <a:gridCol w="1188720"/>
                <a:gridCol w="96012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#</a:t>
                      </a:r>
                      <a:endParaRPr lang="en-US" sz="10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Team</a:t>
                      </a:r>
                      <a:endParaRPr lang="en-US" sz="10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GP</a:t>
                      </a:r>
                      <a:endParaRPr lang="en-US" sz="10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Pts</a:t>
                      </a:r>
                      <a:endParaRPr lang="en-US" sz="10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Title chance</a:t>
                      </a:r>
                      <a:endParaRPr lang="en-US" sz="10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2025/26</a:t>
                      </a:r>
                      <a:endParaRPr lang="en-US" sz="10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0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6A2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Swansea City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A2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23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6A2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1.9%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0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F6A2B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11th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40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8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West Ham United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22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82.4%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Relegated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418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Middlesbrough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22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5.7%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5th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Birmingham City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1.3%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10th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5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West Bromwich Albion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0.2%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19th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6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Stoke City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19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0.1%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17th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Southampton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11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17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4.9%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3rd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8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Wolves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10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17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3.1%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Relegated</a:t>
                      </a:r>
                      <a:endParaRPr lang="en-US" sz="11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36576" marR="36576" marT="36576" marB="36576" anchor="ctr">
                    <a:lnL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B0F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91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675120" y="164592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2A1408">
              <a:alpha val="85000"/>
            </a:srgbClr>
          </a:solidFill>
          <a:ln w="12700">
            <a:solidFill>
              <a:srgbClr val="6B2E1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1737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FF6A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1.9%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690372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Swansea City: 1st today, 11th last season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9189720" y="1645920"/>
            <a:ext cx="2377440" cy="1828800"/>
          </a:xfrm>
          <a:prstGeom prst="roundRect">
            <a:avLst>
              <a:gd name="adj" fmla="val 6000"/>
            </a:avLst>
          </a:prstGeom>
          <a:solidFill>
            <a:srgbClr val="0F2418">
              <a:alpha val="85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418320" y="17373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0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82%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941832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West Ham United: 2nd, 1 point behind, relegated from the Premier League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3657600"/>
            <a:ext cx="4892040" cy="1417320"/>
          </a:xfrm>
          <a:prstGeom prst="roundRect">
            <a:avLst>
              <a:gd name="adj" fmla="val 7742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858000" y="36576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Why? </a:t>
            </a:r>
            <a:pPr indent="0" marL="0">
              <a:buNone/>
            </a:pPr>
            <a:r>
              <a:rPr lang="en-US" sz="1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West Ham United came down from the Premier League, and their goal difference is +18, the best in the league, against Swansea City's +8. An 11-game start can't outweigh that, and with 35 to go, 1 point is one result.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675120" y="5257800"/>
            <a:ext cx="4892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Same story in Ligue 1: </a:t>
            </a:r>
            <a:pPr indent="0" marL="0">
              <a:buNone/>
            </a:pPr>
            <a:r>
              <a:rPr lang="en-US" sz="13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Lyon top (9%, 4th last season), Paris Saint-Germain 2nd but 71% favourites as reigning champions.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WATCHING IT MOVE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2026/27 title race, one run per day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86384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3930072" y="2514600"/>
            <a:ext cx="1600200" cy="256032"/>
          </a:xfrm>
          <a:prstGeom prst="rect">
            <a:avLst/>
          </a:prstGeom>
          <a:solidFill>
            <a:srgbClr val="0B0F0D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Brighton 3–0 Arsenal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5427936" y="2807208"/>
            <a:ext cx="1600200" cy="256032"/>
          </a:xfrm>
          <a:prstGeom prst="rect">
            <a:avLst/>
          </a:prstGeom>
          <a:solidFill>
            <a:srgbClr val="0B0F0D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City win 3–0 at Liverpool</a:t>
            </a:r>
            <a:endParaRPr lang="en-US" sz="950" dirty="0"/>
          </a:p>
        </p:txBody>
      </p:sp>
      <p:sp>
        <p:nvSpPr>
          <p:cNvPr id="7" name="Text 4"/>
          <p:cNvSpPr txBox="1"/>
          <p:nvPr/>
        </p:nvSpPr>
        <p:spPr>
          <a:xfrm>
            <a:off x="6448596" y="2514600"/>
            <a:ext cx="1600200" cy="256032"/>
          </a:xfrm>
          <a:prstGeom prst="rect">
            <a:avLst/>
          </a:prstGeom>
          <a:solidFill>
            <a:srgbClr val="0B0F0D">
              <a:alpha val="75000"/>
            </a:srgbClr>
          </a:solidFill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Arsenal win 1–0 at Forest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8732520" y="1645920"/>
            <a:ext cx="2880360" cy="4434840"/>
          </a:xfrm>
          <a:prstGeom prst="roundRect">
            <a:avLst>
              <a:gd name="adj" fmla="val 3810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915400" y="17830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AFTER 2 GAMES → TODAY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915400" y="219456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Man City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8915400" y="250545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41% → </a:t>
            </a:r>
            <a:pPr indent="0" marL="0">
              <a:buNone/>
            </a:pPr>
            <a:r>
              <a:rPr lang="en-US" sz="2400" b="1" dirty="0">
                <a:solidFill>
                  <a:srgbClr val="7CC4F0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59%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91540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Arsenal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8915400" y="346557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44% → </a:t>
            </a:r>
            <a:pPr indent="0" marL="0">
              <a:buNone/>
            </a:pPr>
            <a:r>
              <a:rPr lang="en-US" sz="2400" b="1" dirty="0">
                <a:solidFill>
                  <a:srgbClr val="FF5A4E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35%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8915400" y="41148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Brighton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915400" y="442569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1% → </a:t>
            </a:r>
            <a:pPr indent="0" marL="0">
              <a:buNone/>
            </a:pPr>
            <a:r>
              <a:rPr lang="en-US" sz="24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5%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8915400" y="507492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Others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8915400" y="5385816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14% → </a:t>
            </a:r>
            <a:pPr indent="0" marL="0">
              <a:buNone/>
            </a:pPr>
            <a:r>
              <a:rPr lang="en-US" sz="2400" b="1" dirty="0">
                <a:solidFill>
                  <a:srgbClr val="8B9A92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1%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04 · DOES IT WORK?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Last season, called on 9 March 2026</a:t>
            </a:r>
            <a:endParaRPr lang="en-US" sz="30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64008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94560"/>
                <a:gridCol w="1828800"/>
                <a:gridCol w="5486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Team</a:t>
                      </a:r>
                      <a:endParaRPr lang="en-US" sz="12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Model on 9 March</a:t>
                      </a:r>
                      <a:endParaRPr lang="en-US" sz="12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Actual finish</a:t>
                      </a:r>
                      <a:endParaRPr lang="en-US" sz="12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Arsenal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93.5% to finish 1st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1st, champions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</a:t>
                      </a:r>
                      <a:endParaRPr lang="en-US" sz="16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Man City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91.4% to finish 2nd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2nd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</a:t>
                      </a:r>
                      <a:endParaRPr lang="en-US" sz="16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Man United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45.3% to finish 3rd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3rd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</a:t>
                      </a:r>
                      <a:endParaRPr lang="en-US" sz="16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Burnley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77.0% to finish 19th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19th, relegated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</a:t>
                      </a:r>
                      <a:endParaRPr lang="en-US" sz="16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Wolves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79.5% to finish 20th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20th, relegated</a:t>
                      </a:r>
                      <a:endParaRPr lang="en-US" sz="14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3EE07A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✓</a:t>
                      </a:r>
                      <a:endParaRPr lang="en-US" sz="160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800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middle was a genuine toss-up: </a:t>
            </a:r>
            <a:pPr indent="0" marL="0">
              <a:buNone/>
            </a:pPr>
            <a:r>
              <a:rPr lang="en-US" sz="13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4th place on 9 March was Chelsea 26.3%, Aston Villa 26.0%, Man United 25.3%. Aston Villa took it: the model's second pick, well inside the spread.</a:t>
            </a:r>
            <a:endParaRPr lang="en-US" sz="1350" dirty="0"/>
          </a:p>
        </p:txBody>
      </p:sp>
      <p:sp>
        <p:nvSpPr>
          <p:cNvPr id="6" name="click1_0"/>
          <p:cNvSpPr/>
          <p:nvPr/>
        </p:nvSpPr>
        <p:spPr>
          <a:xfrm>
            <a:off x="7315200" y="1645920"/>
            <a:ext cx="4297680" cy="4434840"/>
          </a:xfrm>
          <a:prstGeom prst="roundRect">
            <a:avLst>
              <a:gd name="adj" fmla="val 2553"/>
            </a:avLst>
          </a:prstGeom>
          <a:solidFill>
            <a:srgbClr val="2A1408">
              <a:alpha val="75000"/>
            </a:srgbClr>
          </a:solidFill>
          <a:ln w="12700">
            <a:solidFill>
              <a:srgbClr val="6B2E10"/>
            </a:solidFill>
            <a:prstDash val="solid"/>
          </a:ln>
        </p:spPr>
      </p:sp>
      <p:sp>
        <p:nvSpPr>
          <p:cNvPr id="7" name="click1_1"/>
          <p:cNvSpPr txBox="1"/>
          <p:nvPr/>
        </p:nvSpPr>
        <p:spPr>
          <a:xfrm>
            <a:off x="7543800" y="181051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6A2B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THE SURPRISE</a:t>
            </a:r>
            <a:endParaRPr lang="en-US" sz="1200" dirty="0"/>
          </a:p>
        </p:txBody>
      </p:sp>
      <p:sp>
        <p:nvSpPr>
          <p:cNvPr id="8" name="click1_2"/>
          <p:cNvSpPr txBox="1"/>
          <p:nvPr/>
        </p:nvSpPr>
        <p:spPr>
          <a:xfrm>
            <a:off x="754380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Chelsea</a:t>
            </a:r>
            <a:endParaRPr lang="en-US" sz="2400" dirty="0"/>
          </a:p>
        </p:txBody>
      </p:sp>
      <p:sp>
        <p:nvSpPr>
          <p:cNvPr id="9" name="click1_3"/>
          <p:cNvSpPr txBox="1"/>
          <p:nvPr/>
        </p:nvSpPr>
        <p:spPr>
          <a:xfrm>
            <a:off x="7543800" y="2606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F6A2B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97%</a:t>
            </a:r>
            <a:endParaRPr lang="en-US" sz="3800" dirty="0"/>
          </a:p>
        </p:txBody>
      </p:sp>
      <p:sp>
        <p:nvSpPr>
          <p:cNvPr id="10" name="click1_4"/>
          <p:cNvSpPr txBox="1"/>
          <p:nvPr/>
        </p:nvSpPr>
        <p:spPr>
          <a:xfrm>
            <a:off x="7543800" y="3291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chance of finishing 3rd–7th</a:t>
            </a:r>
            <a:endParaRPr lang="en-US" sz="1250" dirty="0"/>
          </a:p>
        </p:txBody>
      </p:sp>
      <p:sp>
        <p:nvSpPr>
          <p:cNvPr id="11" name="click1_5"/>
          <p:cNvSpPr txBox="1"/>
          <p:nvPr/>
        </p:nvSpPr>
        <p:spPr>
          <a:xfrm>
            <a:off x="9509760" y="2606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11th</a:t>
            </a:r>
            <a:endParaRPr lang="en-US" sz="3800" dirty="0"/>
          </a:p>
        </p:txBody>
      </p:sp>
      <p:sp>
        <p:nvSpPr>
          <p:cNvPr id="12" name="click1_6"/>
          <p:cNvSpPr txBox="1"/>
          <p:nvPr/>
        </p:nvSpPr>
        <p:spPr>
          <a:xfrm>
            <a:off x="9509760" y="32918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actual finish (0.07% chance)</a:t>
            </a:r>
            <a:endParaRPr lang="en-US" sz="1250" dirty="0"/>
          </a:p>
        </p:txBody>
      </p:sp>
      <p:sp>
        <p:nvSpPr>
          <p:cNvPr id="13" name="click1_7"/>
          <p:cNvSpPr txBox="1"/>
          <p:nvPr/>
        </p:nvSpPr>
        <p:spPr>
          <a:xfrm>
            <a:off x="7543800" y="406908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 goals, Chelsea looked like a top-six side. The drop only showed up in the results later, which is why richer data is next on the list.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CHECKING CALIBRATION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When it says 70%, does it happen 70% of the time?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722376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645920"/>
            <a:ext cx="3520440" cy="1874520"/>
          </a:xfrm>
          <a:prstGeom prst="roundRect">
            <a:avLst>
              <a:gd name="adj" fmla="val 5854"/>
            </a:avLst>
          </a:prstGeom>
          <a:solidFill>
            <a:srgbClr val="141B18">
              <a:alpha val="85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275320" y="1691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8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39k</a:t>
            </a:r>
            <a:endParaRPr lang="en-US" sz="3800" dirty="0"/>
          </a:p>
        </p:txBody>
      </p:sp>
      <p:sp>
        <p:nvSpPr>
          <p:cNvPr id="7" name="Text 4"/>
          <p:cNvSpPr txBox="1"/>
          <p:nvPr/>
        </p:nvSpPr>
        <p:spPr>
          <a:xfrm>
            <a:off x="8275320" y="23774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probabilities scored: 4 leagues, 239 league-days, March–May 2026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092440" y="365760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0F2418">
              <a:alpha val="85000"/>
            </a:srgbClr>
          </a:solidFill>
          <a:ln w="12700">
            <a:solidFill>
              <a:srgbClr val="1F5A3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75320" y="3749040"/>
            <a:ext cx="32004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Close match. </a:t>
            </a:r>
            <a:pPr indent="0" marL="0">
              <a:buNone/>
            </a:pPr>
            <a:r>
              <a:rPr lang="en-US" sz="130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bars track each other closely: calls of 70–85% came in 81% of the time.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PROBLEMS I HIT IN PRODUCTION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model was easy. So much went wrong running it</a:t>
            </a:r>
            <a:endParaRPr lang="en-US" sz="3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539496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274320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Source</a:t>
                      </a:r>
                      <a:endParaRPr lang="en-US" sz="12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3EE07A"/>
                          </a:solidFill>
                          <a:latin typeface="Chakra Petch" pitchFamily="34" charset="0"/>
                          <a:ea typeface="Chakra Petch" pitchFamily="34" charset="-122"/>
                          <a:cs typeface="Chakra Petch" pitchFamily="34" charset="-120"/>
                        </a:rPr>
                        <a:t>What it calls the same club</a:t>
                      </a:r>
                      <a:endParaRPr lang="en-US" sz="1200" dirty="0">
                        <a:latin typeface="Chakra Petch" charset="0"/>
                        <a:ea typeface="Chakra Petch" charset="0"/>
                        <a:cs typeface="Chakra Petch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ESPN (scraped table)</a:t>
                      </a:r>
                      <a:endParaRPr lang="en-US" sz="13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Internazionale</a:t>
                      </a:r>
                      <a:endParaRPr lang="en-US" sz="13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football-data.org (fixtures)</a:t>
                      </a:r>
                      <a:endParaRPr lang="en-US" sz="13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FC Internazionale Milano</a:t>
                      </a:r>
                      <a:endParaRPr lang="en-US" sz="13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dirty="0">
                          <a:solidFill>
                            <a:srgbClr val="A3ADA8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the-odds-api (odds)</a:t>
                      </a:r>
                      <a:endParaRPr lang="en-US" sz="13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5F7F6"/>
                          </a:solidFill>
                          <a:latin typeface="Avenir Next" pitchFamily="34" charset="0"/>
                          <a:ea typeface="Avenir Next" pitchFamily="34" charset="-122"/>
                          <a:cs typeface="Avenir Next" pitchFamily="34" charset="-120"/>
                        </a:rPr>
                        <a:t>Inter Milan</a:t>
                      </a:r>
                      <a:endParaRPr lang="en-US" sz="1350" dirty="0">
                        <a:latin typeface="Avenir Next" charset="0"/>
                        <a:ea typeface="Avenir Next" charset="0"/>
                        <a:cs typeface="Avenir Next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6302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18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361188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Unmapped, one club becomes three teams, each with a third of its data. No error, no warning: just quietly wrong numbers.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48640" y="4434840"/>
            <a:ext cx="5394960" cy="1691640"/>
          </a:xfrm>
          <a:prstGeom prst="roundRect">
            <a:avLst>
              <a:gd name="adj" fmla="val 6486"/>
            </a:avLst>
          </a:prstGeom>
          <a:solidFill>
            <a:srgbClr val="18211D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4434840"/>
            <a:ext cx="4846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 production, the bugs came from the data pipeline, not from the statistics.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63640" y="1645920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92240" y="173736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Cloud IPs get blocked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2039112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ESPN's firewall served an empty challenge page to GitHub Actions but not to my laptop. Fix: a real headless browser.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263640" y="2770632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92240" y="28620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regex ate Schalke 04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92240" y="3163824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Team codes with digits (“S04”) weren't stripped. Only surfaced when Schalke were promoted.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6263640" y="3895344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92240" y="398678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Fixtures that never matched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6492240" y="4288536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name mismatch left two promoted Eredivisie sides with zero fixtures, so they sat on 100% for their current position.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263640" y="5020056"/>
            <a:ext cx="5349240" cy="987552"/>
          </a:xfrm>
          <a:prstGeom prst="roundRect">
            <a:avLst>
              <a:gd name="adj" fmla="val 11111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92240" y="511149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Runtime creep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92240" y="5413248"/>
            <a:ext cx="4983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9th league pushed the daily job past 30 minutes. Concurrency, rate pacing, and parallel simulation got it under 3.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Where the model goes next</a:t>
            </a:r>
            <a:endParaRPr lang="en-US" sz="3000" dirty="0"/>
          </a:p>
        </p:txBody>
      </p:sp>
      <p:sp>
        <p:nvSpPr>
          <p:cNvPr id="4" name="click1_0"/>
          <p:cNvSpPr/>
          <p:nvPr/>
        </p:nvSpPr>
        <p:spPr>
          <a:xfrm>
            <a:off x="548640" y="16459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41B18">
              <a:alpha val="82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5" name="click1_1"/>
          <p:cNvSpPr txBox="1"/>
          <p:nvPr/>
        </p:nvSpPr>
        <p:spPr>
          <a:xfrm>
            <a:off x="777240" y="1783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Goals are a slow signal</a:t>
            </a:r>
            <a:endParaRPr lang="en-US" sz="1600" dirty="0"/>
          </a:p>
        </p:txBody>
      </p:sp>
      <p:sp>
        <p:nvSpPr>
          <p:cNvPr id="6" name="click1_2"/>
          <p:cNvSpPr txBox="1"/>
          <p:nvPr/>
        </p:nvSpPr>
        <p:spPr>
          <a:xfrm>
            <a:off x="777240" y="2194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0–5 events a match. A team can play better for weeks before the scoreline shows it.</a:t>
            </a:r>
            <a:endParaRPr lang="en-US" sz="1250" dirty="0"/>
          </a:p>
        </p:txBody>
      </p:sp>
      <p:sp>
        <p:nvSpPr>
          <p:cNvPr id="7" name="click1_3"/>
          <p:cNvSpPr txBox="1"/>
          <p:nvPr/>
        </p:nvSpPr>
        <p:spPr>
          <a:xfrm>
            <a:off x="777240" y="29718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NEXT  </a:t>
            </a:r>
            <a:pPr indent="0" marL="0">
              <a:buNone/>
            </a:pPr>
            <a:r>
              <a:rPr lang="en-US" sz="12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Richer inputs: xG, xThreat, and tracking data like SkillCorner's (off-ball runs, pressing, physical output)</a:t>
            </a:r>
            <a:endParaRPr lang="en-US" sz="1250" dirty="0"/>
          </a:p>
        </p:txBody>
      </p:sp>
      <p:sp>
        <p:nvSpPr>
          <p:cNvPr id="8" name="click2_0"/>
          <p:cNvSpPr/>
          <p:nvPr/>
        </p:nvSpPr>
        <p:spPr>
          <a:xfrm>
            <a:off x="6172200" y="16459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41B18">
              <a:alpha val="82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9" name="click2_1"/>
          <p:cNvSpPr txBox="1"/>
          <p:nvPr/>
        </p:nvSpPr>
        <p:spPr>
          <a:xfrm>
            <a:off x="6400800" y="1783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Everything assumes ‘business as usual’</a:t>
            </a:r>
            <a:endParaRPr lang="en-US" sz="1600" dirty="0"/>
          </a:p>
        </p:txBody>
      </p:sp>
      <p:sp>
        <p:nvSpPr>
          <p:cNvPr id="10" name="click2_2"/>
          <p:cNvSpPr txBox="1"/>
          <p:nvPr/>
        </p:nvSpPr>
        <p:spPr>
          <a:xfrm>
            <a:off x="6400800" y="2194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new manager or a key injury shifts real strength faster than a goals rating can follow.</a:t>
            </a:r>
            <a:endParaRPr lang="en-US" sz="1250" dirty="0"/>
          </a:p>
        </p:txBody>
      </p:sp>
      <p:sp>
        <p:nvSpPr>
          <p:cNvPr id="11" name="click2_3"/>
          <p:cNvSpPr txBox="1"/>
          <p:nvPr/>
        </p:nvSpPr>
        <p:spPr>
          <a:xfrm>
            <a:off x="6400800" y="29718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NEXT  </a:t>
            </a:r>
            <a:pPr indent="0" marL="0">
              <a:buNone/>
            </a:pPr>
            <a:r>
              <a:rPr lang="en-US" sz="12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Event flags, faster-reacting ratings, market weight that adapts</a:t>
            </a:r>
            <a:endParaRPr lang="en-US" sz="1250" dirty="0"/>
          </a:p>
        </p:txBody>
      </p:sp>
      <p:sp>
        <p:nvSpPr>
          <p:cNvPr id="12" name="click3_0"/>
          <p:cNvSpPr/>
          <p:nvPr/>
        </p:nvSpPr>
        <p:spPr>
          <a:xfrm>
            <a:off x="548640" y="39319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41B18">
              <a:alpha val="82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3" name="click3_1"/>
          <p:cNvSpPr txBox="1"/>
          <p:nvPr/>
        </p:nvSpPr>
        <p:spPr>
          <a:xfrm>
            <a:off x="777240" y="4069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Independent goals</a:t>
            </a:r>
            <a:endParaRPr lang="en-US" sz="1600" dirty="0"/>
          </a:p>
        </p:txBody>
      </p:sp>
      <p:sp>
        <p:nvSpPr>
          <p:cNvPr id="14" name="click3_2"/>
          <p:cNvSpPr txBox="1"/>
          <p:nvPr/>
        </p:nvSpPr>
        <p:spPr>
          <a:xfrm>
            <a:off x="777240" y="4480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Low scorelines (0–0, 1–1) happen a bit more often than independence predicts.</a:t>
            </a:r>
            <a:endParaRPr lang="en-US" sz="1250" dirty="0"/>
          </a:p>
        </p:txBody>
      </p:sp>
      <p:sp>
        <p:nvSpPr>
          <p:cNvPr id="15" name="click3_3"/>
          <p:cNvSpPr txBox="1"/>
          <p:nvPr/>
        </p:nvSpPr>
        <p:spPr>
          <a:xfrm>
            <a:off x="777240" y="52578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NEXT  </a:t>
            </a:r>
            <a:pPr indent="0" marL="0">
              <a:buNone/>
            </a:pPr>
            <a:r>
              <a:rPr lang="en-US" sz="12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Dixon–Coles low-score correction</a:t>
            </a:r>
            <a:endParaRPr lang="en-US" sz="1250" dirty="0"/>
          </a:p>
        </p:txBody>
      </p:sp>
      <p:sp>
        <p:nvSpPr>
          <p:cNvPr id="16" name="click4_0"/>
          <p:cNvSpPr/>
          <p:nvPr/>
        </p:nvSpPr>
        <p:spPr>
          <a:xfrm>
            <a:off x="6172200" y="393192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41B18">
              <a:alpha val="82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7" name="click4_1"/>
          <p:cNvSpPr txBox="1"/>
          <p:nvPr/>
        </p:nvSpPr>
        <p:spPr>
          <a:xfrm>
            <a:off x="6400800" y="4069080"/>
            <a:ext cx="4983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market only reaches priced games</a:t>
            </a:r>
            <a:endParaRPr lang="en-US" sz="1600" dirty="0"/>
          </a:p>
        </p:txBody>
      </p:sp>
      <p:sp>
        <p:nvSpPr>
          <p:cNvPr id="18" name="click4_2"/>
          <p:cNvSpPr txBox="1"/>
          <p:nvPr/>
        </p:nvSpPr>
        <p:spPr>
          <a:xfrm>
            <a:off x="6400800" y="4480560"/>
            <a:ext cx="4983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What bookmakers know shapes only the 21 priced matches; the other 290 use the model alone.</a:t>
            </a:r>
            <a:endParaRPr lang="en-US" sz="1250" dirty="0"/>
          </a:p>
        </p:txBody>
      </p:sp>
      <p:sp>
        <p:nvSpPr>
          <p:cNvPr id="19" name="click4_3"/>
          <p:cNvSpPr txBox="1"/>
          <p:nvPr/>
        </p:nvSpPr>
        <p:spPr>
          <a:xfrm>
            <a:off x="6400800" y="5257800"/>
            <a:ext cx="4983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NEXT  </a:t>
            </a:r>
            <a:pPr indent="0" marL="0">
              <a:buNone/>
            </a:pPr>
            <a:r>
              <a:rPr lang="en-US" sz="12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Learn team strength from the odds, so it carries into every fixture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 NOTE FOR OTHER SPORTS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Why the same recipe breaks for rugby</a:t>
            </a:r>
            <a:endParaRPr lang="en-US" sz="3000" dirty="0"/>
          </a:p>
        </p:txBody>
      </p:sp>
      <p:sp>
        <p:nvSpPr>
          <p:cNvPr id="4" name="click1_0"/>
          <p:cNvSpPr/>
          <p:nvPr/>
        </p:nvSpPr>
        <p:spPr>
          <a:xfrm>
            <a:off x="548640" y="1645920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5" name="click1_1"/>
          <p:cNvSpPr txBox="1"/>
          <p:nvPr/>
        </p:nvSpPr>
        <p:spPr>
          <a:xfrm>
            <a:off x="822960" y="16459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One scoring event?</a:t>
            </a:r>
            <a:endParaRPr lang="en-US" sz="1600" dirty="0"/>
          </a:p>
        </p:txBody>
      </p:sp>
      <p:sp>
        <p:nvSpPr>
          <p:cNvPr id="6" name="click1_2"/>
          <p:cNvSpPr txBox="1"/>
          <p:nvPr/>
        </p:nvSpPr>
        <p:spPr>
          <a:xfrm>
            <a:off x="4023360" y="1645920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Football: goals. Rugby: tries, conversions (conditional on a try), penalties, drop goals. Four correlated processes.</a:t>
            </a:r>
            <a:endParaRPr lang="en-US" sz="1350" dirty="0"/>
          </a:p>
        </p:txBody>
      </p:sp>
      <p:sp>
        <p:nvSpPr>
          <p:cNvPr id="7" name="click2_0"/>
          <p:cNvSpPr/>
          <p:nvPr/>
        </p:nvSpPr>
        <p:spPr>
          <a:xfrm>
            <a:off x="548640" y="2761488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8" name="click2_1"/>
          <p:cNvSpPr txBox="1"/>
          <p:nvPr/>
        </p:nvSpPr>
        <p:spPr>
          <a:xfrm>
            <a:off x="822960" y="2761488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Three outcomes?</a:t>
            </a:r>
            <a:endParaRPr lang="en-US" sz="1600" dirty="0"/>
          </a:p>
        </p:txBody>
      </p:sp>
      <p:sp>
        <p:nvSpPr>
          <p:cNvPr id="9" name="click2_2"/>
          <p:cNvSpPr txBox="1"/>
          <p:nvPr/>
        </p:nvSpPr>
        <p:spPr>
          <a:xfrm>
            <a:off x="4023360" y="2761488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Bonus points (4+ tries, or losing by ≤7) turn 3 results into 20. No 7×7 grid shortcut: each match needs its own Monte Carlo layer.</a:t>
            </a:r>
            <a:endParaRPr lang="en-US" sz="1350" dirty="0"/>
          </a:p>
        </p:txBody>
      </p:sp>
      <p:sp>
        <p:nvSpPr>
          <p:cNvPr id="10" name="click3_0"/>
          <p:cNvSpPr/>
          <p:nvPr/>
        </p:nvSpPr>
        <p:spPr>
          <a:xfrm>
            <a:off x="548640" y="3877056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1" name="click3_1"/>
          <p:cNvSpPr txBox="1"/>
          <p:nvPr/>
        </p:nvSpPr>
        <p:spPr>
          <a:xfrm>
            <a:off x="822960" y="3877056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Uniform home advantage?</a:t>
            </a:r>
            <a:endParaRPr lang="en-US" sz="1600" dirty="0"/>
          </a:p>
        </p:txBody>
      </p:sp>
      <p:sp>
        <p:nvSpPr>
          <p:cNvPr id="12" name="click3_2"/>
          <p:cNvSpPr txBox="1"/>
          <p:nvPr/>
        </p:nvSpPr>
        <p:spPr>
          <a:xfrm>
            <a:off x="4023360" y="3877056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Measured on English Premiership data: +1.15 tries at home, −0.06 penalties. One constant would misapply it.</a:t>
            </a:r>
            <a:endParaRPr lang="en-US" sz="1350" dirty="0"/>
          </a:p>
        </p:txBody>
      </p:sp>
      <p:sp>
        <p:nvSpPr>
          <p:cNvPr id="13" name="click4_0"/>
          <p:cNvSpPr/>
          <p:nvPr/>
        </p:nvSpPr>
        <p:spPr>
          <a:xfrm>
            <a:off x="548640" y="4992624"/>
            <a:ext cx="11064240" cy="960120"/>
          </a:xfrm>
          <a:prstGeom prst="roundRect">
            <a:avLst>
              <a:gd name="adj" fmla="val 11429"/>
            </a:avLst>
          </a:prstGeom>
          <a:solidFill>
            <a:srgbClr val="141B18">
              <a:alpha val="80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4" name="click4_1"/>
          <p:cNvSpPr txBox="1"/>
          <p:nvPr/>
        </p:nvSpPr>
        <p:spPr>
          <a:xfrm>
            <a:off x="822960" y="4992624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8FF6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market to lean on?</a:t>
            </a:r>
            <a:endParaRPr lang="en-US" sz="1600" dirty="0"/>
          </a:p>
        </p:txBody>
      </p:sp>
      <p:sp>
        <p:nvSpPr>
          <p:cNvPr id="15" name="click4_2"/>
          <p:cNvSpPr txBox="1"/>
          <p:nvPr/>
        </p:nvSpPr>
        <p:spPr>
          <a:xfrm>
            <a:off x="4023360" y="4992624"/>
            <a:ext cx="7406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Thin rugby markets and no clean API: everything scraped, nothing to blend with or validate against.</a:t>
            </a:r>
            <a:endParaRPr lang="en-US" sz="1350" dirty="0"/>
          </a:p>
        </p:txBody>
      </p:sp>
      <p:sp>
        <p:nvSpPr>
          <p:cNvPr id="16" name="click4_0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Football answers all four favourably. That's the exception, not the rule: check these before porting the model to a new sport.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body" hasCustomPrompt="1"/>
          </p:nvPr>
        </p:nvSpPr>
        <p:spPr>
          <a:xfrm>
            <a:off x="548640" y="3840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WRAPPING UP</a:t>
            </a:r>
            <a:endParaRPr lang="en-US" sz="1300" dirty="0"/>
          </a:p>
        </p:txBody>
      </p:sp>
      <p:sp>
        <p:nvSpPr>
          <p:cNvPr id="3" name="Text 1"/>
          <p:cNvSpPr/>
          <p:nvPr>
            <p:ph idx="103" type="title" hasCustomPrompt="1"/>
          </p:nvPr>
        </p:nvSpPr>
        <p:spPr>
          <a:xfrm>
            <a:off x="548640" y="676656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Four things to take away</a:t>
            </a:r>
            <a:endParaRPr lang="en-US" sz="3000" dirty="0"/>
          </a:p>
        </p:txBody>
      </p:sp>
      <p:sp>
        <p:nvSpPr>
          <p:cNvPr id="4" name="click1_0"/>
          <p:cNvSpPr/>
          <p:nvPr/>
        </p:nvSpPr>
        <p:spPr>
          <a:xfrm>
            <a:off x="548640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41B18">
              <a:alpha val="82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5" name="click1_1"/>
          <p:cNvSpPr txBox="1"/>
          <p:nvPr/>
        </p:nvSpPr>
        <p:spPr>
          <a:xfrm>
            <a:off x="82296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click1_2"/>
          <p:cNvSpPr txBox="1"/>
          <p:nvPr/>
        </p:nvSpPr>
        <p:spPr>
          <a:xfrm>
            <a:off x="1783080" y="1901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Report a distribution, never a rank</a:t>
            </a:r>
            <a:endParaRPr lang="en-US" sz="1800" dirty="0"/>
          </a:p>
        </p:txBody>
      </p:sp>
      <p:sp>
        <p:nvSpPr>
          <p:cNvPr id="7" name="click1_3"/>
          <p:cNvSpPr txBox="1"/>
          <p:nvPr/>
        </p:nvSpPr>
        <p:spPr>
          <a:xfrm>
            <a:off x="1783080" y="25146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 single simulated season is one sample. The spread is the answer.</a:t>
            </a:r>
            <a:endParaRPr lang="en-US" sz="1350" dirty="0"/>
          </a:p>
        </p:txBody>
      </p:sp>
      <p:sp>
        <p:nvSpPr>
          <p:cNvPr id="8" name="click2_0"/>
          <p:cNvSpPr/>
          <p:nvPr/>
        </p:nvSpPr>
        <p:spPr>
          <a:xfrm>
            <a:off x="6172200" y="164592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41B18">
              <a:alpha val="82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9" name="click2_1"/>
          <p:cNvSpPr txBox="1"/>
          <p:nvPr/>
        </p:nvSpPr>
        <p:spPr>
          <a:xfrm>
            <a:off x="6446520" y="18745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click2_2"/>
          <p:cNvSpPr txBox="1"/>
          <p:nvPr/>
        </p:nvSpPr>
        <p:spPr>
          <a:xfrm>
            <a:off x="7406640" y="1901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Simple models, done rigorously</a:t>
            </a:r>
            <a:endParaRPr lang="en-US" sz="1800" dirty="0"/>
          </a:p>
        </p:txBody>
      </p:sp>
      <p:sp>
        <p:nvSpPr>
          <p:cNvPr id="11" name="click2_3"/>
          <p:cNvSpPr txBox="1"/>
          <p:nvPr/>
        </p:nvSpPr>
        <p:spPr>
          <a:xfrm>
            <a:off x="7406640" y="251460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Poisson, shrinkage, and market odds: simple pieces that, combined, are reasonably well calibrated.</a:t>
            </a:r>
            <a:endParaRPr lang="en-US" sz="1350" dirty="0"/>
          </a:p>
        </p:txBody>
      </p:sp>
      <p:sp>
        <p:nvSpPr>
          <p:cNvPr id="12" name="click3_0"/>
          <p:cNvSpPr/>
          <p:nvPr/>
        </p:nvSpPr>
        <p:spPr>
          <a:xfrm>
            <a:off x="548640" y="38862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41B18">
              <a:alpha val="82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3" name="click3_1"/>
          <p:cNvSpPr txBox="1"/>
          <p:nvPr/>
        </p:nvSpPr>
        <p:spPr>
          <a:xfrm>
            <a:off x="82296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click3_2"/>
          <p:cNvSpPr txBox="1"/>
          <p:nvPr/>
        </p:nvSpPr>
        <p:spPr>
          <a:xfrm>
            <a:off x="1783080" y="4142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every assumption</a:t>
            </a:r>
            <a:endParaRPr lang="en-US" sz="1800" dirty="0"/>
          </a:p>
        </p:txBody>
      </p:sp>
      <p:sp>
        <p:nvSpPr>
          <p:cNvPr id="15" name="click3_3"/>
          <p:cNvSpPr txBox="1"/>
          <p:nvPr/>
        </p:nvSpPr>
        <p:spPr>
          <a:xfrm>
            <a:off x="1783080" y="47548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Independence, business-as-usual, tie-breaks. Re-check each before reusing the model elsewhere.</a:t>
            </a:r>
            <a:endParaRPr lang="en-US" sz="1350" dirty="0"/>
          </a:p>
        </p:txBody>
      </p:sp>
      <p:sp>
        <p:nvSpPr>
          <p:cNvPr id="16" name="click4_0"/>
          <p:cNvSpPr/>
          <p:nvPr/>
        </p:nvSpPr>
        <p:spPr>
          <a:xfrm>
            <a:off x="6172200" y="3886200"/>
            <a:ext cx="5440680" cy="2011680"/>
          </a:xfrm>
          <a:prstGeom prst="roundRect">
            <a:avLst>
              <a:gd name="adj" fmla="val 5455"/>
            </a:avLst>
          </a:prstGeom>
          <a:solidFill>
            <a:srgbClr val="141B18">
              <a:alpha val="82000"/>
            </a:srgbClr>
          </a:solidFill>
          <a:ln w="12700">
            <a:solidFill>
              <a:srgbClr val="26302B"/>
            </a:solidFill>
            <a:prstDash val="solid"/>
          </a:ln>
        </p:spPr>
      </p:sp>
      <p:sp>
        <p:nvSpPr>
          <p:cNvPr id="17" name="click4_1"/>
          <p:cNvSpPr txBox="1"/>
          <p:nvPr/>
        </p:nvSpPr>
        <p:spPr>
          <a:xfrm>
            <a:off x="644652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click4_2"/>
          <p:cNvSpPr txBox="1"/>
          <p:nvPr/>
        </p:nvSpPr>
        <p:spPr>
          <a:xfrm>
            <a:off x="7406640" y="414223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The model is the easy part</a:t>
            </a:r>
            <a:endParaRPr lang="en-US" sz="1800" dirty="0"/>
          </a:p>
        </p:txBody>
      </p:sp>
      <p:sp>
        <p:nvSpPr>
          <p:cNvPr id="19" name="click4_3"/>
          <p:cNvSpPr txBox="1"/>
          <p:nvPr/>
        </p:nvSpPr>
        <p:spPr>
          <a:xfrm>
            <a:off x="7406640" y="47548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Name mapping, missing fixtures, and blocked scrapers are where the time goes.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774375" y="641908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56F"/>
                </a:solidFill>
                <a:latin typeface="Avenir Next"/>
                <a:ea typeface="Avenir Next"/>
                <a:cs typeface="Avenir Next"/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48640" y="27432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240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05 · Q&amp;A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Ask anything: the model, the code, the data sources, or how to build your own.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31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LET'S CONNECT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Thank you!</a:t>
            </a:r>
            <a:endParaRPr lang="en-US" sz="5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6217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9D1CC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Connect with me on LinkedIn: I post every new model, article, and dashboard update there.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246120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LIVE DASHBOARD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493008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football-league-simulator.streamlit.app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904488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CODE (GITHUB)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51376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github.com/vickyfriss/football-league-predictions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562856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ARTICLES (MEDIUM)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809744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medium.com/@vickyfrissdekereki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5221224"/>
            <a:ext cx="6217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EE07A"/>
                </a:solidFill>
                <a:latin typeface="Chakra Petch" pitchFamily="34" charset="0"/>
                <a:ea typeface="Chakra Petch" pitchFamily="34" charset="-122"/>
                <a:cs typeface="Chakra Petch" pitchFamily="34" charset="-120"/>
              </a:rPr>
              <a:t>LINKEDIN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546811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linkedin.com/in/victoria-friss-de-kereki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635240" y="914400"/>
            <a:ext cx="3977640" cy="5120640"/>
          </a:xfrm>
          <a:prstGeom prst="roundRect">
            <a:avLst>
              <a:gd name="adj" fmla="val 2759"/>
            </a:avLst>
          </a:prstGeom>
          <a:solidFill>
            <a:srgbClr val="141B18">
              <a:alpha val="90000"/>
            </a:srgbClr>
          </a:solidFill>
          <a:ln w="19050">
            <a:solidFill>
              <a:srgbClr val="1F5A35"/>
            </a:solidFill>
            <a:prstDash val="solid"/>
          </a:ln>
        </p:spPr>
      </p:sp>
      <p:pic>
        <p:nvPicPr>
          <p:cNvPr id="14" name="Image 0" descr="Victoria Friss de Kereki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09560" y="1143000"/>
            <a:ext cx="777240" cy="777240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823960" y="1143000"/>
            <a:ext cx="2697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F7F6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Victoria Friss de Kereki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3EE07A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Scan to connect on LinkedIn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8001000" y="2148840"/>
            <a:ext cx="32461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7" name="Image 1" descr="QR code linking to Victoria's LinkedIn profile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8160" y="2286000"/>
            <a:ext cx="2971800" cy="2971800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7635240" y="553212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A3ADA8"/>
                </a:solidFill>
                <a:latin typeface="Avenir Next" pitchFamily="34" charset="0"/>
                <a:ea typeface="Avenir Next" pitchFamily="34" charset="-122"/>
                <a:cs typeface="Avenir Next" pitchFamily="34" charset="-120"/>
              </a:rPr>
              <a:t>linkedin.com/in/victoria-friss-de-kereki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redicting Match and Season Outcomes">
  <a:themeElements>
    <a:clrScheme name="Predicting Match and Season Outcomes">
      <a:dk1>
        <a:srgbClr val="0B0F0D"/>
      </a:dk1>
      <a:lt1>
        <a:srgbClr val="F5F7F6"/>
      </a:lt1>
      <a:dk2>
        <a:srgbClr val="141B18"/>
      </a:dk2>
      <a:lt2>
        <a:srgbClr val="A3ADA8"/>
      </a:lt2>
      <a:accent1>
        <a:srgbClr val="3EE07A"/>
      </a:accent1>
      <a:accent2>
        <a:srgbClr val="C8FF6A"/>
      </a:accent2>
      <a:accent3>
        <a:srgbClr val="FF6A2B"/>
      </a:accent3>
      <a:accent4>
        <a:srgbClr val="7CC4F0"/>
      </a:accent4>
      <a:accent5>
        <a:srgbClr val="FF5A4E"/>
      </a:accent5>
      <a:accent6>
        <a:srgbClr val="6B756F"/>
      </a:accent6>
      <a:hlink>
        <a:srgbClr val="3EE07A"/>
      </a:hlink>
      <a:folHlink>
        <a:srgbClr val="C8FF6A"/>
      </a:folHlink>
    </a:clrScheme>
    <a:fontScheme name="Predicting Match and Season Outcomes">
      <a:majorFont>
        <a:latin typeface="Avenir Nex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venir N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Match and Season Outcomes</dc:title>
  <dc:subject>PptxGenJS Presentation</dc:subject>
  <dc:creator>Victoria Friss de Kereki</dc:creator>
  <cp:lastModifiedBy>Victoria Friss de Kereki</cp:lastModifiedBy>
  <cp:revision>1</cp:revision>
  <dcterms:created xsi:type="dcterms:W3CDTF">2026-10-19T12:41:12Z</dcterms:created>
  <dcterms:modified xsi:type="dcterms:W3CDTF">2026-10-19T12:41:12Z</dcterms:modified>
</cp:coreProperties>
</file>